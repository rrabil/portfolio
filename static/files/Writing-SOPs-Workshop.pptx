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621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201168" cy="201168"/>
          </a:xfrm>
          <a:prstGeom prst="ellipse">
            <a:avLst/>
          </a:prstGeom>
          <a:solidFill>
            <a:srgbClr val="085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085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MATERIALS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dirty="0">
                <a:solidFill>
                  <a:srgbClr val="F4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Standard Operating Procedures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3A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writing setup and operations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662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Richard Rabil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143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WRITING SOPS WORKSHOP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138160" y="48143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B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 guides?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063240" cy="1846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Central, authoritative documentation on the company wiki for how delivery teams launch and operate a product for clients.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templates: guide landing pages, phase pages, SOP pages, reference pages.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content types: overviews, roles, dependencies, tasks.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extensive research and design.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840480" y="11612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— SOLSTICE DOCS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840480" y="1417320"/>
            <a:ext cx="4846320" cy="3223260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2700">
            <a:solidFill>
              <a:srgbClr val="D2DAD7"/>
            </a:solidFill>
            <a:prstDash val="solid"/>
          </a:ln>
          <a:effectLst>
            <a:outerShdw blurRad="76200" dist="25400" dir="5400000" algn="bl" rotWithShape="0">
              <a:srgbClr val="1218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05072" y="1581912"/>
            <a:ext cx="451713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2DA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33088" y="1687068"/>
            <a:ext cx="82296" cy="82296"/>
          </a:xfrm>
          <a:prstGeom prst="ellipse">
            <a:avLst/>
          </a:prstGeom>
          <a:solidFill>
            <a:srgbClr val="A963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79392" y="1687068"/>
            <a:ext cx="82296" cy="82296"/>
          </a:xfrm>
          <a:prstGeom prst="ellipse">
            <a:avLst/>
          </a:prstGeom>
          <a:solidFill>
            <a:srgbClr val="D2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25696" y="1687068"/>
            <a:ext cx="82296" cy="82296"/>
          </a:xfrm>
          <a:prstGeom prst="ellipse">
            <a:avLst/>
          </a:prstGeom>
          <a:solidFill>
            <a:srgbClr val="0B6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53712" y="1636776"/>
            <a:ext cx="3831336" cy="182880"/>
          </a:xfrm>
          <a:prstGeom prst="roundRect">
            <a:avLst>
              <a:gd name="adj" fmla="val 25000"/>
            </a:avLst>
          </a:prstGeom>
          <a:solidFill>
            <a:srgbClr val="EAEF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26864" y="1636776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solsticedocs.internal/launch-operations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05072" y="202082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and Operations Guides — Home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05072" y="2386584"/>
            <a:ext cx="2962656" cy="310896"/>
          </a:xfrm>
          <a:prstGeom prst="roundRect">
            <a:avLst>
              <a:gd name="adj" fmla="val 14706"/>
            </a:avLst>
          </a:prstGeom>
          <a:solidFill>
            <a:srgbClr val="F3E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0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6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resource: do not distribute to clients.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05072" y="2825496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05072" y="3044952"/>
            <a:ext cx="2962656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4B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info on how we launch and operate client products.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05072" y="366903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05072" y="3888486"/>
            <a:ext cx="2962656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4B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and Operations Process</a:t>
            </a:r>
            <a:endParaRPr lang="en-US" sz="800" dirty="0"/>
          </a:p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4B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Responsibilities</a:t>
            </a:r>
            <a:endParaRPr lang="en-US" sz="800" dirty="0"/>
          </a:p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4B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Guide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50608" y="2020824"/>
            <a:ext cx="1371600" cy="2455164"/>
          </a:xfrm>
          <a:prstGeom prst="roundRect">
            <a:avLst>
              <a:gd name="adj" fmla="val 3333"/>
            </a:avLst>
          </a:prstGeom>
          <a:solidFill>
            <a:srgbClr val="EAEF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42048" y="2130552"/>
            <a:ext cx="1188720" cy="2272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0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0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0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Guide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0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Product-Specific Guides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0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Also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143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WRITING SOPS WORKSHOP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138160" y="48143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B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Determine your guide structure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54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project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28216"/>
            <a:ext cx="3954780" cy="2716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Landing Page</a:t>
            </a:r>
            <a:endParaRPr lang="en-US" sz="1150" dirty="0"/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</a:t>
            </a:r>
            <a:endParaRPr lang="en-US" sz="1150" dirty="0"/>
          </a:p>
          <a:p>
            <a:pPr marL="1092200" lvl="2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Overview</a:t>
            </a:r>
            <a:endParaRPr lang="en-US" sz="1150" dirty="0"/>
          </a:p>
          <a:p>
            <a:pPr marL="1549400" lvl="3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</a:p>
          <a:p>
            <a:pPr marL="1549400" lvl="3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</a:p>
          <a:p>
            <a:pPr marL="1549400" lvl="3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1150" dirty="0"/>
          </a:p>
          <a:p>
            <a:pPr marL="1092200" lvl="2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Overview</a:t>
            </a:r>
            <a:endParaRPr lang="en-US" sz="1150" dirty="0"/>
          </a:p>
          <a:p>
            <a:pPr marL="1549400" lvl="3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</a:p>
          <a:p>
            <a:pPr marL="1549400" lvl="3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1150" dirty="0"/>
          </a:p>
          <a:p>
            <a:pPr marL="1092200" lvl="2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50" dirty="0"/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 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32020" y="1417320"/>
            <a:ext cx="3954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32020" y="1728216"/>
            <a:ext cx="3954780" cy="144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landing page</a:t>
            </a:r>
            <a:endParaRPr lang="en-US" sz="1150" dirty="0"/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Workflow</a:t>
            </a:r>
            <a:endParaRPr lang="en-US" sz="1150" dirty="0"/>
          </a:p>
          <a:p>
            <a:pPr marL="1092200" lvl="2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</a:p>
          <a:p>
            <a:pPr marL="1092200" lvl="2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</a:p>
          <a:p>
            <a:pPr marL="1092200" lvl="2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1150" dirty="0"/>
          </a:p>
          <a:p>
            <a:pPr marL="635000" lvl="1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143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WRITING SOPS WORKSHOP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138160" y="48143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B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your templates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06324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for us — let's look at our structure in practice.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test guide landing page.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test phase landing page.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test POP landing page.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test SOP page.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840480" y="11612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— TEMPLATE EDITOR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840480" y="1417320"/>
            <a:ext cx="4846320" cy="3223260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2700">
            <a:solidFill>
              <a:srgbClr val="D2DAD7"/>
            </a:solidFill>
            <a:prstDash val="solid"/>
          </a:ln>
          <a:effectLst>
            <a:outerShdw blurRad="76200" dist="25400" dir="5400000" algn="bl" rotWithShape="0">
              <a:srgbClr val="1218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05072" y="1581912"/>
            <a:ext cx="451713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2DA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33088" y="1687068"/>
            <a:ext cx="82296" cy="82296"/>
          </a:xfrm>
          <a:prstGeom prst="ellipse">
            <a:avLst/>
          </a:prstGeom>
          <a:solidFill>
            <a:srgbClr val="A963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79392" y="1687068"/>
            <a:ext cx="82296" cy="82296"/>
          </a:xfrm>
          <a:prstGeom prst="ellipse">
            <a:avLst/>
          </a:prstGeom>
          <a:solidFill>
            <a:srgbClr val="D2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25696" y="1687068"/>
            <a:ext cx="82296" cy="82296"/>
          </a:xfrm>
          <a:prstGeom prst="ellipse">
            <a:avLst/>
          </a:prstGeom>
          <a:solidFill>
            <a:srgbClr val="0B6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53712" y="1636776"/>
            <a:ext cx="3831336" cy="182880"/>
          </a:xfrm>
          <a:prstGeom prst="roundRect">
            <a:avLst>
              <a:gd name="adj" fmla="val 25000"/>
            </a:avLst>
          </a:prstGeom>
          <a:solidFill>
            <a:srgbClr val="EAEF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26864" y="1636776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solsticedocs.internal/edit/sop-template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05072" y="2020824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SOP Template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05072" y="2404872"/>
            <a:ext cx="182880" cy="182880"/>
          </a:xfrm>
          <a:prstGeom prst="ellipse">
            <a:avLst/>
          </a:prstGeom>
          <a:solidFill>
            <a:srgbClr val="0B6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05072" y="2404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97680" y="2386584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the page using the SOP naming convention.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05072" y="2697480"/>
            <a:ext cx="182880" cy="182880"/>
          </a:xfrm>
          <a:prstGeom prst="ellipse">
            <a:avLst/>
          </a:prstGeom>
          <a:solidFill>
            <a:srgbClr val="0B6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05072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97680" y="2679192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built-in table of contents anchor.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05072" y="2990088"/>
            <a:ext cx="182880" cy="182880"/>
          </a:xfrm>
          <a:prstGeom prst="ellipse">
            <a:avLst/>
          </a:prstGeom>
          <a:solidFill>
            <a:srgbClr val="0B6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05072" y="2990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97680" y="297180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hidden instructions to write the Overview.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005072" y="3282696"/>
            <a:ext cx="182880" cy="182880"/>
          </a:xfrm>
          <a:prstGeom prst="ellipse">
            <a:avLst/>
          </a:prstGeom>
          <a:solidFill>
            <a:srgbClr val="0B6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05072" y="3282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97680" y="326440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roles involved, using the Primary / Supporting pattern.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005072" y="3575304"/>
            <a:ext cx="182880" cy="182880"/>
          </a:xfrm>
          <a:prstGeom prst="ellipse">
            <a:avLst/>
          </a:prstGeom>
          <a:solidFill>
            <a:srgbClr val="0B6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05072" y="35753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97680" y="3557016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— don't publish until it's been reviewed.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005072" y="3904488"/>
            <a:ext cx="4517136" cy="457200"/>
          </a:xfrm>
          <a:prstGeom prst="roundRect">
            <a:avLst>
              <a:gd name="adj" fmla="val 10000"/>
            </a:avLst>
          </a:prstGeom>
          <a:solidFill>
            <a:srgbClr val="F3E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0" y="39044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6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instructional text walks new authors through each section before they publish.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143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WRITING SOPS WORKSHOP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138160" y="48143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B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PRACTICE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buy-in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16636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buy-in on your approach — quarterly planning, a clear publishing process, and clear roles.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clear scope for each quarter.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support not just from managers, but subject-matter experts who can be champions.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417320"/>
            <a:ext cx="2743200" cy="3223260"/>
          </a:xfrm>
          <a:prstGeom prst="roundRect">
            <a:avLst>
              <a:gd name="adj" fmla="val 3333"/>
            </a:avLst>
          </a:prstGeom>
          <a:solidFill>
            <a:srgbClr val="EAEFED"/>
          </a:solidFill>
          <a:ln/>
          <a:effectLst>
            <a:outerShdw blurRad="76200" dist="25400" dir="5400000" algn="bl" rotWithShape="0">
              <a:srgbClr val="1218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44768" y="1600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B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TO TRACK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44768" y="1892808"/>
            <a:ext cx="2340864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B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SOPs published, pages archived, tickets with linked SOPs, number of contributors.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143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WRITING SOPS WORKSHOP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138160" y="48143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B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PRACTICE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roles and workflows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each team is responsible for.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everyone the tools to self-serve.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143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WRITING SOPS WORKSHOP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138160" y="48143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B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PRACTICE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users self-serve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templates, maintain a documentation guide.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minimum criteria for certifying a page.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user training.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opportunities for 1:1 assistance — for example, office hours and working sessions with teams.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143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WRITING SOPS WORKSHOP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138160" y="48143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B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PRACTICE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12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ongoing maintenance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documentation guide.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templates simple and up to date.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content-reuse and image library.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clear content archival process.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71416" y="1737360"/>
            <a:ext cx="201168" cy="201168"/>
          </a:xfrm>
          <a:prstGeom prst="ellipse">
            <a:avLst/>
          </a:prstGeom>
          <a:solidFill>
            <a:srgbClr val="085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4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Standard Operating Procedures — Richard Rabil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3205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rrabil.github.io/portfolio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511</Words>
  <Application>Microsoft Office PowerPoint</Application>
  <PresentationFormat>On-screen Show (16:9)</PresentationFormat>
  <Paragraphs>116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Richard Rabil</cp:lastModifiedBy>
  <cp:revision>6</cp:revision>
  <dcterms:created xsi:type="dcterms:W3CDTF">2026-08-17T22:49:45Z</dcterms:created>
  <dcterms:modified xsi:type="dcterms:W3CDTF">2026-08-18T12:48:20Z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Theme:5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Office Theme:4</vt:lpwstr>
  </property>
  <property fmtid="{D5CDD505-2E9C-101B-9397-08002B2CF9AE}" pid="5" name="ClassificationContentMarkingHeaderText">
    <vt:lpwstr>Confidential - Oracle Restricted \Employees Only</vt:lpwstr>
  </property>
</Properties>
</file>