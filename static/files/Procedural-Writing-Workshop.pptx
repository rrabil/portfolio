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822960"/>
            <a:ext cx="201168" cy="201168"/>
          </a:xfrm>
          <a:prstGeom prst="ellipse">
            <a:avLst/>
          </a:prstGeom>
          <a:solidFill>
            <a:srgbClr val="085951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786384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0859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WORKSHOP MATERIALS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F4F6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Procedural Writing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3063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93A1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practices for writing clear, task-oriented procedures and user guides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43662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D6C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Richard Rabil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8143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4B555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PROCEDURE WRITING WORKSHOP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138160" y="48143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5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B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AGENDA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65836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21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we'll cover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5166360" cy="3223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2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breakdown</a:t>
            </a:r>
            <a:endParaRPr lang="en-US" sz="14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2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of a procedure</a:t>
            </a:r>
            <a:endParaRPr lang="en-US" sz="14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2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of a procedure</a:t>
            </a:r>
            <a:endParaRPr lang="en-US" sz="14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2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practices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0" y="1417320"/>
            <a:ext cx="2743200" cy="3223260"/>
          </a:xfrm>
          <a:prstGeom prst="roundRect">
            <a:avLst>
              <a:gd name="adj" fmla="val 3333"/>
            </a:avLst>
          </a:prstGeom>
          <a:solidFill>
            <a:srgbClr val="EAEFED"/>
          </a:solidFill>
          <a:ln/>
          <a:effectLst>
            <a:outerShdw sx="100000" sy="100000" kx="0" ky="0" algn="bl" rotWithShape="0" blurRad="76200" dist="25400" dir="5400000">
              <a:srgbClr val="12181A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144768" y="1600200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0B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DISCLAIMER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144768" y="1892808"/>
            <a:ext cx="2340864" cy="2811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B5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following slides assume a documentation team's house style guide as the baseline. Defer to your own team's conventions where they differ.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8143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4B555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PROCEDURE WRITING WORKSHOP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138160" y="48143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5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B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 BREAKDOWN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65836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21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It's the task, stupid.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4B5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outline showing the task-oriented nature of user guides and SOPs, for a fictional admin console called Hero Builder: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57200" y="1874520"/>
            <a:ext cx="39547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started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85416"/>
            <a:ext cx="3954780" cy="2455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2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Hero Builder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2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Accessing Hero Builder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2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Managing your projects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2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Refreshing and importing data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2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Creating a new segment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2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Creating a new project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732020" y="1874520"/>
            <a:ext cx="39547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a project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732020" y="2185416"/>
            <a:ext cx="3954780" cy="2455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2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Selecting customers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2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Assigning settings to customers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2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the selection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2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Deploying the selection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2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Configuring a common project type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2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Configuring a standard launch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2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Configuring a standard expansion or refill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2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Configuring program changes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2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Troubleshooting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8143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4B555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PROCEDURE WRITING WORKSHOP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138160" y="48143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5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B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DEFINITION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65836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21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Definition of a procedure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8229600" cy="3223260"/>
          </a:xfrm>
          <a:prstGeom prst="roundRect">
            <a:avLst>
              <a:gd name="adj" fmla="val 2837"/>
            </a:avLst>
          </a:prstGeom>
          <a:solidFill>
            <a:srgbClr val="EAEFED"/>
          </a:solidFill>
          <a:ln/>
          <a:effectLst>
            <a:outerShdw sx="100000" sy="100000" kx="0" ky="0" algn="bl" rotWithShape="0" blurRad="76200" dist="25400" dir="5400000">
              <a:srgbClr val="12181A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60120" y="1737360"/>
            <a:ext cx="7223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i="1" dirty="0">
                <a:solidFill>
                  <a:srgbClr val="121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“A procedure is a short description of the steps a user takes to complete a specific task.”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60120" y="320040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 Microsoft Manual of Style for Technical Publications, 3rd Edition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60120" y="404622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the 1:1 relationship between a task and a procedure.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8143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4B555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PROCEDURE WRITING WORKSHOP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138160" y="48143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5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B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STRUCTURE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65836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21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Anatomy of a procedure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1034578" cy="3223260"/>
          </a:xfrm>
          <a:prstGeom prst="roundRect">
            <a:avLst>
              <a:gd name="adj" fmla="val 7071"/>
            </a:avLst>
          </a:prstGeom>
          <a:solidFill>
            <a:srgbClr val="EAEFED"/>
          </a:solidFill>
          <a:ln/>
          <a:effectLst>
            <a:outerShdw sx="100000" sy="100000" kx="0" ky="0" algn="bl" rotWithShape="0" blurRad="76200" dist="25400" dir="5400000">
              <a:srgbClr val="12181A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28185" y="1600200"/>
            <a:ext cx="292608" cy="292608"/>
          </a:xfrm>
          <a:prstGeom prst="ellipse">
            <a:avLst/>
          </a:prstGeom>
          <a:solidFill>
            <a:srgbClr val="0B6E63"/>
          </a:solidFill>
          <a:ln/>
        </p:spPr>
      </p:sp>
      <p:sp>
        <p:nvSpPr>
          <p:cNvPr id="8" name="Text 6"/>
          <p:cNvSpPr/>
          <p:nvPr/>
        </p:nvSpPr>
        <p:spPr>
          <a:xfrm>
            <a:off x="828185" y="16002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4F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2020824"/>
            <a:ext cx="815122" cy="2491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2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heading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656370" y="1417320"/>
            <a:ext cx="1034578" cy="3223260"/>
          </a:xfrm>
          <a:prstGeom prst="roundRect">
            <a:avLst>
              <a:gd name="adj" fmla="val 7071"/>
            </a:avLst>
          </a:prstGeom>
          <a:solidFill>
            <a:srgbClr val="EAEFED"/>
          </a:solidFill>
          <a:ln/>
          <a:effectLst>
            <a:outerShdw sx="100000" sy="100000" kx="0" ky="0" algn="bl" rotWithShape="0" blurRad="76200" dist="25400" dir="5400000">
              <a:srgbClr val="12181A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027355" y="1600200"/>
            <a:ext cx="292608" cy="292608"/>
          </a:xfrm>
          <a:prstGeom prst="ellipse">
            <a:avLst/>
          </a:prstGeom>
          <a:solidFill>
            <a:srgbClr val="0B6E63"/>
          </a:solidFill>
          <a:ln/>
        </p:spPr>
      </p:sp>
      <p:sp>
        <p:nvSpPr>
          <p:cNvPr id="12" name="Text 10"/>
          <p:cNvSpPr/>
          <p:nvPr/>
        </p:nvSpPr>
        <p:spPr>
          <a:xfrm>
            <a:off x="2027355" y="16002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4F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766098" y="2020824"/>
            <a:ext cx="815122" cy="2491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2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855541" y="1417320"/>
            <a:ext cx="1034578" cy="3223260"/>
          </a:xfrm>
          <a:prstGeom prst="roundRect">
            <a:avLst>
              <a:gd name="adj" fmla="val 7071"/>
            </a:avLst>
          </a:prstGeom>
          <a:solidFill>
            <a:srgbClr val="EAEFED"/>
          </a:solidFill>
          <a:ln/>
          <a:effectLst>
            <a:outerShdw sx="100000" sy="100000" kx="0" ky="0" algn="bl" rotWithShape="0" blurRad="76200" dist="25400" dir="5400000">
              <a:srgbClr val="12181A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226526" y="1600200"/>
            <a:ext cx="292608" cy="292608"/>
          </a:xfrm>
          <a:prstGeom prst="ellipse">
            <a:avLst/>
          </a:prstGeom>
          <a:solidFill>
            <a:srgbClr val="0B6E63"/>
          </a:solidFill>
          <a:ln/>
        </p:spPr>
      </p:sp>
      <p:sp>
        <p:nvSpPr>
          <p:cNvPr id="16" name="Text 14"/>
          <p:cNvSpPr/>
          <p:nvPr/>
        </p:nvSpPr>
        <p:spPr>
          <a:xfrm>
            <a:off x="3226526" y="16002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4F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965269" y="2020824"/>
            <a:ext cx="815122" cy="2491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2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Procedure heading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054711" y="1417320"/>
            <a:ext cx="1034578" cy="3223260"/>
          </a:xfrm>
          <a:prstGeom prst="roundRect">
            <a:avLst>
              <a:gd name="adj" fmla="val 7071"/>
            </a:avLst>
          </a:prstGeom>
          <a:solidFill>
            <a:srgbClr val="EAEFED"/>
          </a:solidFill>
          <a:ln/>
          <a:effectLst>
            <a:outerShdw sx="100000" sy="100000" kx="0" ky="0" algn="bl" rotWithShape="0" blurRad="76200" dist="25400" dir="5400000">
              <a:srgbClr val="12181A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425696" y="1600200"/>
            <a:ext cx="292608" cy="292608"/>
          </a:xfrm>
          <a:prstGeom prst="ellipse">
            <a:avLst/>
          </a:prstGeom>
          <a:solidFill>
            <a:srgbClr val="0B6E63"/>
          </a:solidFill>
          <a:ln/>
        </p:spPr>
      </p:sp>
      <p:sp>
        <p:nvSpPr>
          <p:cNvPr id="20" name="Text 18"/>
          <p:cNvSpPr/>
          <p:nvPr/>
        </p:nvSpPr>
        <p:spPr>
          <a:xfrm>
            <a:off x="4425696" y="16002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4F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164439" y="2020824"/>
            <a:ext cx="815122" cy="2491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2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253881" y="1417320"/>
            <a:ext cx="1034578" cy="3223260"/>
          </a:xfrm>
          <a:prstGeom prst="roundRect">
            <a:avLst>
              <a:gd name="adj" fmla="val 7071"/>
            </a:avLst>
          </a:prstGeom>
          <a:solidFill>
            <a:srgbClr val="EAEFED"/>
          </a:solidFill>
          <a:ln/>
          <a:effectLst>
            <a:outerShdw sx="100000" sy="100000" kx="0" ky="0" algn="bl" rotWithShape="0" blurRad="76200" dist="25400" dir="5400000">
              <a:srgbClr val="12181A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624866" y="1600200"/>
            <a:ext cx="292608" cy="292608"/>
          </a:xfrm>
          <a:prstGeom prst="ellipse">
            <a:avLst/>
          </a:prstGeom>
          <a:solidFill>
            <a:srgbClr val="0B6E63"/>
          </a:solidFill>
          <a:ln/>
        </p:spPr>
      </p:sp>
      <p:sp>
        <p:nvSpPr>
          <p:cNvPr id="24" name="Text 22"/>
          <p:cNvSpPr/>
          <p:nvPr/>
        </p:nvSpPr>
        <p:spPr>
          <a:xfrm>
            <a:off x="5624866" y="16002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4F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363609" y="2020824"/>
            <a:ext cx="815122" cy="2491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2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53051" y="1417320"/>
            <a:ext cx="1034578" cy="3223260"/>
          </a:xfrm>
          <a:prstGeom prst="roundRect">
            <a:avLst>
              <a:gd name="adj" fmla="val 7071"/>
            </a:avLst>
          </a:prstGeom>
          <a:solidFill>
            <a:srgbClr val="EAEFED"/>
          </a:solidFill>
          <a:ln/>
          <a:effectLst>
            <a:outerShdw sx="100000" sy="100000" kx="0" ky="0" algn="bl" rotWithShape="0" blurRad="76200" dist="25400" dir="5400000">
              <a:srgbClr val="12181A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824037" y="1600200"/>
            <a:ext cx="292608" cy="292608"/>
          </a:xfrm>
          <a:prstGeom prst="ellipse">
            <a:avLst/>
          </a:prstGeom>
          <a:solidFill>
            <a:srgbClr val="0B6E63"/>
          </a:solidFill>
          <a:ln/>
        </p:spPr>
      </p:sp>
      <p:sp>
        <p:nvSpPr>
          <p:cNvPr id="28" name="Text 26"/>
          <p:cNvSpPr/>
          <p:nvPr/>
        </p:nvSpPr>
        <p:spPr>
          <a:xfrm>
            <a:off x="6824037" y="16002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4F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562779" y="2020824"/>
            <a:ext cx="815122" cy="2491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2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step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652222" y="1417320"/>
            <a:ext cx="1034578" cy="3223260"/>
          </a:xfrm>
          <a:prstGeom prst="roundRect">
            <a:avLst>
              <a:gd name="adj" fmla="val 7071"/>
            </a:avLst>
          </a:prstGeom>
          <a:solidFill>
            <a:srgbClr val="EAEFED"/>
          </a:solidFill>
          <a:ln/>
          <a:effectLst>
            <a:outerShdw sx="100000" sy="100000" kx="0" ky="0" algn="bl" rotWithShape="0" blurRad="76200" dist="25400" dir="5400000">
              <a:srgbClr val="12181A">
                <a:alpha val="1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023207" y="1600200"/>
            <a:ext cx="292608" cy="292608"/>
          </a:xfrm>
          <a:prstGeom prst="ellipse">
            <a:avLst/>
          </a:prstGeom>
          <a:solidFill>
            <a:srgbClr val="0B6E63"/>
          </a:solidFill>
          <a:ln/>
        </p:spPr>
      </p:sp>
      <p:sp>
        <p:nvSpPr>
          <p:cNvPr id="32" name="Text 30"/>
          <p:cNvSpPr/>
          <p:nvPr/>
        </p:nvSpPr>
        <p:spPr>
          <a:xfrm>
            <a:off x="8023207" y="16002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4F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761950" y="2020824"/>
            <a:ext cx="815122" cy="2491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2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 link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8143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4B555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PROCEDURE WRITING WORKSHOP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138160" y="48143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5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B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BEST PRACTICES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65836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21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Task headings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3977640" cy="3223260"/>
          </a:xfrm>
          <a:prstGeom prst="roundRect">
            <a:avLst>
              <a:gd name="adj" fmla="val 2837"/>
            </a:avLst>
          </a:prstGeom>
          <a:solidFill>
            <a:srgbClr val="EAEFED"/>
          </a:solidFill>
          <a:ln/>
          <a:effectLst>
            <a:outerShdw sx="100000" sy="100000" kx="0" ky="0" algn="bl" rotWithShape="0" blurRad="76200" dist="25400" dir="5400000">
              <a:srgbClr val="12181A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13232" y="1655064"/>
            <a:ext cx="146304" cy="146304"/>
          </a:xfrm>
          <a:prstGeom prst="ellipse">
            <a:avLst/>
          </a:prstGeom>
          <a:solidFill>
            <a:srgbClr val="0B6E63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581912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13232" y="1984248"/>
            <a:ext cx="3465576" cy="2491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2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a gerund or infinitive verb form.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2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title case or sentence case (defer to your style guide).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2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headings as short as possible to keep your mini table of contents clean.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709160" y="1417320"/>
            <a:ext cx="3977640" cy="3223260"/>
          </a:xfrm>
          <a:prstGeom prst="roundRect">
            <a:avLst>
              <a:gd name="adj" fmla="val 2837"/>
            </a:avLst>
          </a:prstGeom>
          <a:solidFill>
            <a:srgbClr val="F3E3D0"/>
          </a:solidFill>
          <a:ln/>
          <a:effectLst>
            <a:outerShdw sx="100000" sy="100000" kx="0" ky="0" algn="bl" rotWithShape="0" blurRad="76200" dist="25400" dir="5400000">
              <a:srgbClr val="12181A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965192" y="1655064"/>
            <a:ext cx="146304" cy="146304"/>
          </a:xfrm>
          <a:prstGeom prst="ellipse">
            <a:avLst/>
          </a:prstGeom>
          <a:solidFill>
            <a:srgbClr val="A9631E"/>
          </a:solidFill>
          <a:ln/>
        </p:spPr>
      </p:sp>
      <p:sp>
        <p:nvSpPr>
          <p:cNvPr id="12" name="Text 10"/>
          <p:cNvSpPr/>
          <p:nvPr/>
        </p:nvSpPr>
        <p:spPr>
          <a:xfrm>
            <a:off x="5166360" y="1581912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96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965192" y="1984248"/>
            <a:ext cx="3465576" cy="2491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2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“How to.”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2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Capitalize articles or prepositions.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2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colons to the heading.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8143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4B555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PROCEDURE WRITING WORKSHOP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138160" y="48143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5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B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BEST PRACTICES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65836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21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3977640" cy="3223260"/>
          </a:xfrm>
          <a:prstGeom prst="roundRect">
            <a:avLst>
              <a:gd name="adj" fmla="val 2837"/>
            </a:avLst>
          </a:prstGeom>
          <a:solidFill>
            <a:srgbClr val="EAEFED"/>
          </a:solidFill>
          <a:ln/>
          <a:effectLst>
            <a:outerShdw sx="100000" sy="100000" kx="0" ky="0" algn="bl" rotWithShape="0" blurRad="76200" dist="25400" dir="5400000">
              <a:srgbClr val="12181A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13232" y="1655064"/>
            <a:ext cx="146304" cy="146304"/>
          </a:xfrm>
          <a:prstGeom prst="ellipse">
            <a:avLst/>
          </a:prstGeom>
          <a:solidFill>
            <a:srgbClr val="0B6E63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581912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13232" y="1984248"/>
            <a:ext cx="3465576" cy="2491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2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necessary context — define new or obscure terms.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2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 out acronyms the first time they're used.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2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why the procedure is required or beneficial, or give an example of its purpose.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2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principle: new hires need it, and every page is page one.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709160" y="1417320"/>
            <a:ext cx="3977640" cy="3223260"/>
          </a:xfrm>
          <a:prstGeom prst="roundRect">
            <a:avLst>
              <a:gd name="adj" fmla="val 2837"/>
            </a:avLst>
          </a:prstGeom>
          <a:solidFill>
            <a:srgbClr val="F3E3D0"/>
          </a:solidFill>
          <a:ln/>
          <a:effectLst>
            <a:outerShdw sx="100000" sy="100000" kx="0" ky="0" algn="bl" rotWithShape="0" blurRad="76200" dist="25400" dir="5400000">
              <a:srgbClr val="12181A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965192" y="1655064"/>
            <a:ext cx="146304" cy="146304"/>
          </a:xfrm>
          <a:prstGeom prst="ellipse">
            <a:avLst/>
          </a:prstGeom>
          <a:solidFill>
            <a:srgbClr val="A9631E"/>
          </a:solidFill>
          <a:ln/>
        </p:spPr>
      </p:sp>
      <p:sp>
        <p:nvSpPr>
          <p:cNvPr id="12" name="Text 10"/>
          <p:cNvSpPr/>
          <p:nvPr/>
        </p:nvSpPr>
        <p:spPr>
          <a:xfrm>
            <a:off x="5166360" y="1581912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96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965192" y="1984248"/>
            <a:ext cx="3465576" cy="2491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2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anything that will be clearly described or implied in the course of the procedure.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2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Assume readers know what you mean by a given term or acronym.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8143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4B555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PROCEDURE WRITING WORKSHOP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138160" y="48143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5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B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BEST PRACTICES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65836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21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Procedure headings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3063240" cy="3223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2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Do: Use bold formatting.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2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Do: Use an infinitive verb phrase at the beginning.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2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Do: Add a colon at the end.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2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Do: Match the procedure title (except for the opening verb).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2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Don't: Use italics or a heading style.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2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Don't: Omit the procedure heading if there's no introduction — unless your style guide says otherwise.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840480" y="116128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4B555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EXAMPLE — PROCEDURE COMPOSER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3840480" y="1417320"/>
            <a:ext cx="4846320" cy="3223260"/>
          </a:xfrm>
          <a:prstGeom prst="roundRect">
            <a:avLst>
              <a:gd name="adj" fmla="val 2270"/>
            </a:avLst>
          </a:prstGeom>
          <a:solidFill>
            <a:srgbClr val="FFFFFF"/>
          </a:solidFill>
          <a:ln w="12700">
            <a:solidFill>
              <a:srgbClr val="D2DAD7"/>
            </a:solidFill>
            <a:prstDash val="solid"/>
          </a:ln>
          <a:effectLst>
            <a:outerShdw sx="100000" sy="100000" kx="0" ky="0" algn="bl" rotWithShape="0" blurRad="76200" dist="25400" dir="5400000">
              <a:srgbClr val="12181A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005072" y="1581912"/>
            <a:ext cx="4517136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D2DAD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33088" y="1687068"/>
            <a:ext cx="82296" cy="82296"/>
          </a:xfrm>
          <a:prstGeom prst="ellipse">
            <a:avLst/>
          </a:prstGeom>
          <a:solidFill>
            <a:srgbClr val="A9631E"/>
          </a:solidFill>
          <a:ln/>
        </p:spPr>
      </p:sp>
      <p:sp>
        <p:nvSpPr>
          <p:cNvPr id="11" name="Shape 9"/>
          <p:cNvSpPr/>
          <p:nvPr/>
        </p:nvSpPr>
        <p:spPr>
          <a:xfrm>
            <a:off x="4279392" y="1687068"/>
            <a:ext cx="82296" cy="82296"/>
          </a:xfrm>
          <a:prstGeom prst="ellipse">
            <a:avLst/>
          </a:prstGeom>
          <a:solidFill>
            <a:srgbClr val="D2AF7A"/>
          </a:solidFill>
          <a:ln/>
        </p:spPr>
      </p:sp>
      <p:sp>
        <p:nvSpPr>
          <p:cNvPr id="12" name="Shape 10"/>
          <p:cNvSpPr/>
          <p:nvPr/>
        </p:nvSpPr>
        <p:spPr>
          <a:xfrm>
            <a:off x="4425696" y="1687068"/>
            <a:ext cx="82296" cy="82296"/>
          </a:xfrm>
          <a:prstGeom prst="ellipse">
            <a:avLst/>
          </a:prstGeom>
          <a:solidFill>
            <a:srgbClr val="0B6E63"/>
          </a:solidFill>
          <a:ln/>
        </p:spPr>
      </p:sp>
      <p:sp>
        <p:nvSpPr>
          <p:cNvPr id="13" name="Shape 11"/>
          <p:cNvSpPr/>
          <p:nvPr/>
        </p:nvSpPr>
        <p:spPr>
          <a:xfrm>
            <a:off x="4553712" y="1636776"/>
            <a:ext cx="3831336" cy="182880"/>
          </a:xfrm>
          <a:prstGeom prst="roundRect">
            <a:avLst>
              <a:gd name="adj" fmla="val 25000"/>
            </a:avLst>
          </a:prstGeom>
          <a:solidFill>
            <a:srgbClr val="EAEFED"/>
          </a:solidFill>
          <a:ln/>
        </p:spPr>
      </p:sp>
      <p:sp>
        <p:nvSpPr>
          <p:cNvPr id="14" name="Text 12"/>
          <p:cNvSpPr/>
          <p:nvPr/>
        </p:nvSpPr>
        <p:spPr>
          <a:xfrm>
            <a:off x="4626864" y="1636776"/>
            <a:ext cx="3694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555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solsticedocs.internal/procedure-composer/new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005072" y="2020824"/>
            <a:ext cx="4517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Creating a New Procedure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005072" y="2404872"/>
            <a:ext cx="182880" cy="182880"/>
          </a:xfrm>
          <a:prstGeom prst="ellipse">
            <a:avLst/>
          </a:prstGeom>
          <a:solidFill>
            <a:srgbClr val="0B6E63"/>
          </a:solidFill>
          <a:ln/>
        </p:spPr>
      </p:sp>
      <p:sp>
        <p:nvSpPr>
          <p:cNvPr id="17" name="Text 15"/>
          <p:cNvSpPr/>
          <p:nvPr/>
        </p:nvSpPr>
        <p:spPr>
          <a:xfrm>
            <a:off x="4005072" y="240487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4F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297680" y="2386584"/>
            <a:ext cx="4224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2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in to Procedure Composer.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005072" y="2697480"/>
            <a:ext cx="182880" cy="182880"/>
          </a:xfrm>
          <a:prstGeom prst="ellipse">
            <a:avLst/>
          </a:prstGeom>
          <a:solidFill>
            <a:srgbClr val="0B6E63"/>
          </a:solidFill>
          <a:ln/>
        </p:spPr>
      </p:sp>
      <p:sp>
        <p:nvSpPr>
          <p:cNvPr id="20" name="Text 18"/>
          <p:cNvSpPr/>
          <p:nvPr/>
        </p:nvSpPr>
        <p:spPr>
          <a:xfrm>
            <a:off x="4005072" y="269748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4F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297680" y="2679192"/>
            <a:ext cx="4224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2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New Procedure.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005072" y="2990088"/>
            <a:ext cx="182880" cy="182880"/>
          </a:xfrm>
          <a:prstGeom prst="ellipse">
            <a:avLst/>
          </a:prstGeom>
          <a:solidFill>
            <a:srgbClr val="0B6E63"/>
          </a:solidFill>
          <a:ln/>
        </p:spPr>
      </p:sp>
      <p:sp>
        <p:nvSpPr>
          <p:cNvPr id="23" name="Text 21"/>
          <p:cNvSpPr/>
          <p:nvPr/>
        </p:nvSpPr>
        <p:spPr>
          <a:xfrm>
            <a:off x="4005072" y="299008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4F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297680" y="2971800"/>
            <a:ext cx="4224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2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Title field, enter a title for the procedure.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005072" y="3282696"/>
            <a:ext cx="182880" cy="182880"/>
          </a:xfrm>
          <a:prstGeom prst="ellipse">
            <a:avLst/>
          </a:prstGeom>
          <a:solidFill>
            <a:srgbClr val="0B6E63"/>
          </a:solidFill>
          <a:ln/>
        </p:spPr>
      </p:sp>
      <p:sp>
        <p:nvSpPr>
          <p:cNvPr id="26" name="Text 24"/>
          <p:cNvSpPr/>
          <p:nvPr/>
        </p:nvSpPr>
        <p:spPr>
          <a:xfrm>
            <a:off x="4005072" y="328269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4F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297680" y="3264408"/>
            <a:ext cx="4224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2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Optional. In the Labels field, add any labels that apply.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005072" y="3575304"/>
            <a:ext cx="182880" cy="182880"/>
          </a:xfrm>
          <a:prstGeom prst="ellipse">
            <a:avLst/>
          </a:prstGeom>
          <a:solidFill>
            <a:srgbClr val="0B6E63"/>
          </a:solidFill>
          <a:ln/>
        </p:spPr>
      </p:sp>
      <p:sp>
        <p:nvSpPr>
          <p:cNvPr id="29" name="Text 27"/>
          <p:cNvSpPr/>
          <p:nvPr/>
        </p:nvSpPr>
        <p:spPr>
          <a:xfrm>
            <a:off x="4005072" y="357530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4F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297680" y="3557016"/>
            <a:ext cx="4224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2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Save.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005072" y="3904488"/>
            <a:ext cx="4517136" cy="457200"/>
          </a:xfrm>
          <a:prstGeom prst="roundRect">
            <a:avLst>
              <a:gd name="adj" fmla="val 10000"/>
            </a:avLst>
          </a:prstGeom>
          <a:solidFill>
            <a:srgbClr val="F3E3D0"/>
          </a:solidFill>
          <a:ln/>
        </p:spPr>
      </p:sp>
      <p:sp>
        <p:nvSpPr>
          <p:cNvPr id="32" name="Text 30"/>
          <p:cNvSpPr/>
          <p:nvPr/>
        </p:nvSpPr>
        <p:spPr>
          <a:xfrm>
            <a:off x="4114800" y="390448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A96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sure your title begins with a gerund or infinitive verb.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8143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4B555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PROCEDURE WRITING WORKSHOP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138160" y="48143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5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B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BEST PRACTICES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65836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21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Steps, part 1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3977640" cy="3223260"/>
          </a:xfrm>
          <a:prstGeom prst="roundRect">
            <a:avLst>
              <a:gd name="adj" fmla="val 2837"/>
            </a:avLst>
          </a:prstGeom>
          <a:solidFill>
            <a:srgbClr val="EAEFED"/>
          </a:solidFill>
          <a:ln/>
          <a:effectLst>
            <a:outerShdw sx="100000" sy="100000" kx="0" ky="0" algn="bl" rotWithShape="0" blurRad="76200" dist="25400" dir="5400000">
              <a:srgbClr val="12181A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13232" y="1655064"/>
            <a:ext cx="146304" cy="146304"/>
          </a:xfrm>
          <a:prstGeom prst="ellipse">
            <a:avLst/>
          </a:prstGeom>
          <a:solidFill>
            <a:srgbClr val="0B6E63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581912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13232" y="1984248"/>
            <a:ext cx="3465576" cy="2491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2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numbered lists to imply sequence.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2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each step with an active verb.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2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Bold terms that refer to sections or clickable elements of the interface.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2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locators to show where in the interface an action happens — but avoid locator overload.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2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“feedback statement” only if it clarifies things; be sparing, or let the locator imply it.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2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period at the end of each step.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709160" y="1417320"/>
            <a:ext cx="3977640" cy="3223260"/>
          </a:xfrm>
          <a:prstGeom prst="roundRect">
            <a:avLst>
              <a:gd name="adj" fmla="val 2837"/>
            </a:avLst>
          </a:prstGeom>
          <a:solidFill>
            <a:srgbClr val="F3E3D0"/>
          </a:solidFill>
          <a:ln/>
          <a:effectLst>
            <a:outerShdw sx="100000" sy="100000" kx="0" ky="0" algn="bl" rotWithShape="0" blurRad="76200" dist="25400" dir="5400000">
              <a:srgbClr val="12181A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965192" y="1655064"/>
            <a:ext cx="146304" cy="146304"/>
          </a:xfrm>
          <a:prstGeom prst="ellipse">
            <a:avLst/>
          </a:prstGeom>
          <a:solidFill>
            <a:srgbClr val="A9631E"/>
          </a:solidFill>
          <a:ln/>
        </p:spPr>
      </p:sp>
      <p:sp>
        <p:nvSpPr>
          <p:cNvPr id="12" name="Text 10"/>
          <p:cNvSpPr/>
          <p:nvPr/>
        </p:nvSpPr>
        <p:spPr>
          <a:xfrm>
            <a:off x="5166360" y="1581912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96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965192" y="1984248"/>
            <a:ext cx="3465576" cy="2491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2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Bury the action in the middle of a long sentence.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2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multiple unrelated actions into a single step.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8143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4B555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PROCEDURE WRITING WORKSHOP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138160" y="48143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5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B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BEST PRACTICES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65836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21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Steps, part 2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3977640" cy="3223260"/>
          </a:xfrm>
          <a:prstGeom prst="roundRect">
            <a:avLst>
              <a:gd name="adj" fmla="val 2837"/>
            </a:avLst>
          </a:prstGeom>
          <a:solidFill>
            <a:srgbClr val="EAEFED"/>
          </a:solidFill>
          <a:ln/>
          <a:effectLst>
            <a:outerShdw sx="100000" sy="100000" kx="0" ky="0" algn="bl" rotWithShape="0" blurRad="76200" dist="25400" dir="5400000">
              <a:srgbClr val="12181A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13232" y="1655064"/>
            <a:ext cx="146304" cy="146304"/>
          </a:xfrm>
          <a:prstGeom prst="ellipse">
            <a:avLst/>
          </a:prstGeom>
          <a:solidFill>
            <a:srgbClr val="0B6E63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581912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13232" y="1984248"/>
            <a:ext cx="3465576" cy="2491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2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“Do one of the following:” to handle if-then situations.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2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an expand or disclosure beneath a step for extra detail, if necessary.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2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common steps across procedures for parallelism.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2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Precede a step with Optional. if it isn't required.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709160" y="1417320"/>
            <a:ext cx="3977640" cy="3223260"/>
          </a:xfrm>
          <a:prstGeom prst="roundRect">
            <a:avLst>
              <a:gd name="adj" fmla="val 2837"/>
            </a:avLst>
          </a:prstGeom>
          <a:solidFill>
            <a:srgbClr val="F3E3D0"/>
          </a:solidFill>
          <a:ln/>
          <a:effectLst>
            <a:outerShdw sx="100000" sy="100000" kx="0" ky="0" algn="bl" rotWithShape="0" blurRad="76200" dist="25400" dir="5400000">
              <a:srgbClr val="12181A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965192" y="1655064"/>
            <a:ext cx="146304" cy="146304"/>
          </a:xfrm>
          <a:prstGeom prst="ellipse">
            <a:avLst/>
          </a:prstGeom>
          <a:solidFill>
            <a:srgbClr val="A9631E"/>
          </a:solidFill>
          <a:ln/>
        </p:spPr>
      </p:sp>
      <p:sp>
        <p:nvSpPr>
          <p:cNvPr id="12" name="Text 10"/>
          <p:cNvSpPr/>
          <p:nvPr/>
        </p:nvSpPr>
        <p:spPr>
          <a:xfrm>
            <a:off x="5166360" y="1581912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96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965192" y="1984248"/>
            <a:ext cx="3465576" cy="2491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2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carats (&gt;) for menu paths unless the audience is internal and the meaning is very clear — they're generally bad for localization.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2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Cram more than one primary action into a single numbered step.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8143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4B555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PROCEDURE WRITING WORKSHOP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138160" y="48143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5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B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BEST PRACTICES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65836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21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&amp; advanced formatting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3977640" cy="3223260"/>
          </a:xfrm>
          <a:prstGeom prst="roundRect">
            <a:avLst>
              <a:gd name="adj" fmla="val 2837"/>
            </a:avLst>
          </a:prstGeom>
          <a:solidFill>
            <a:srgbClr val="EAEFED"/>
          </a:solidFill>
          <a:ln/>
          <a:effectLst>
            <a:outerShdw sx="100000" sy="100000" kx="0" ky="0" algn="bl" rotWithShape="0" blurRad="76200" dist="25400" dir="5400000">
              <a:srgbClr val="12181A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13232" y="1655064"/>
            <a:ext cx="146304" cy="146304"/>
          </a:xfrm>
          <a:prstGeom prst="ellipse">
            <a:avLst/>
          </a:prstGeom>
          <a:solidFill>
            <a:srgbClr val="0B6E63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581912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13232" y="1984248"/>
            <a:ext cx="3465576" cy="2491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2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images sparingly, placed directly under the applicable step.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2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drop-shadow effect for screenshots.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2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alignment and proximity to connect an image to its step.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2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your tool's built-in callout styles rather than one-off formatting.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709160" y="1417320"/>
            <a:ext cx="3977640" cy="3223260"/>
          </a:xfrm>
          <a:prstGeom prst="roundRect">
            <a:avLst>
              <a:gd name="adj" fmla="val 2837"/>
            </a:avLst>
          </a:prstGeom>
          <a:solidFill>
            <a:srgbClr val="F3E3D0"/>
          </a:solidFill>
          <a:ln/>
          <a:effectLst>
            <a:outerShdw sx="100000" sy="100000" kx="0" ky="0" algn="bl" rotWithShape="0" blurRad="76200" dist="25400" dir="5400000">
              <a:srgbClr val="12181A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965192" y="1655064"/>
            <a:ext cx="146304" cy="146304"/>
          </a:xfrm>
          <a:prstGeom prst="ellipse">
            <a:avLst/>
          </a:prstGeom>
          <a:solidFill>
            <a:srgbClr val="A9631E"/>
          </a:solidFill>
          <a:ln/>
        </p:spPr>
      </p:sp>
      <p:sp>
        <p:nvSpPr>
          <p:cNvPr id="12" name="Text 10"/>
          <p:cNvSpPr/>
          <p:nvPr/>
        </p:nvSpPr>
        <p:spPr>
          <a:xfrm>
            <a:off x="5166360" y="1581912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96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965192" y="1984248"/>
            <a:ext cx="3465576" cy="2491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2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tables to organize everything.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2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an image, note, or other element where it's unclear which step it applies to.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8143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4B555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PROCEDURE WRITING WORKSHOP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138160" y="48143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5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B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BEST PRACTICES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65836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21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Branches or forks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39547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scenarios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728216"/>
            <a:ext cx="3954780" cy="29123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2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Variations depending on the user's role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2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ways to do the same thing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732020" y="1417320"/>
            <a:ext cx="39547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Tactics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732020" y="1728216"/>
            <a:ext cx="3954780" cy="29123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2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preliminary procedure that branches into the rest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2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“Do one of the following” followed by bullets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2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“Do one of the following” followed by a table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2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“You can also...” callout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8143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4B555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PROCEDURE WRITING WORKSHOP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138160" y="48143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5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B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RESOURCES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65836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21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Resources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8229600" cy="3223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2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Solstice Docs Style Guide (internal)</a:t>
            </a:r>
            <a:endParaRPr lang="en-US" sz="14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2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Manual of Style for Technical Publications, 3rd Edition — p. 117–124, “Procedures.”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2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471416" y="1737360"/>
            <a:ext cx="201168" cy="201168"/>
          </a:xfrm>
          <a:prstGeom prst="ellipse">
            <a:avLst/>
          </a:prstGeom>
          <a:solidFill>
            <a:srgbClr val="08595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1031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dirty="0">
                <a:solidFill>
                  <a:srgbClr val="F4F6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834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3A1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Procedure Writing Workshop — Richard Rabil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43205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D6C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rrabil.github.io/portfolio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2026-08-18T12:44:37Z</dcterms:created>
  <dcterms:modified xsi:type="dcterms:W3CDTF">2026-08-18T12:44:37Z</dcterms:modified>
</cp:coreProperties>
</file>