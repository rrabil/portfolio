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12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3073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1A"/>
        </a:solidFill>
        <a:effectLst/>
      </p:bgPr>
    </p:bg>
    <p:spTree>
      <p:nvGrpSpPr>
        <p:cNvPr id="1" name=""/>
        <p:cNvGrpSpPr/>
        <p:nvPr/>
      </p:nvGrpSpPr>
      <p:grpSpPr>
        <a:xfrm>
          <a:off x="0" y="0"/>
          <a:ext cx="0" cy="0"/>
          <a:chOff x="0" y="0"/>
          <a:chExt cx="0" cy="0"/>
        </a:xfrm>
      </p:grpSpPr>
      <p:sp>
        <p:nvSpPr>
          <p:cNvPr id="2" name="Shape 0"/>
          <p:cNvSpPr/>
          <p:nvPr/>
        </p:nvSpPr>
        <p:spPr>
          <a:xfrm>
            <a:off x="457200" y="822960"/>
            <a:ext cx="201168" cy="201168"/>
          </a:xfrm>
          <a:prstGeom prst="ellipse">
            <a:avLst/>
          </a:prstGeom>
          <a:solidFill>
            <a:srgbClr val="085951"/>
          </a:solidFill>
          <a:ln/>
        </p:spPr>
        <p:txBody>
          <a:bodyPr/>
          <a:lstStyle/>
          <a:p>
            <a:endParaRPr lang="en-US"/>
          </a:p>
        </p:txBody>
      </p:sp>
      <p:sp>
        <p:nvSpPr>
          <p:cNvPr id="3" name="Text 1"/>
          <p:cNvSpPr/>
          <p:nvPr/>
        </p:nvSpPr>
        <p:spPr>
          <a:xfrm>
            <a:off x="822960" y="786384"/>
            <a:ext cx="7863840" cy="274320"/>
          </a:xfrm>
          <a:prstGeom prst="rect">
            <a:avLst/>
          </a:prstGeom>
          <a:noFill/>
          <a:ln/>
        </p:spPr>
        <p:txBody>
          <a:bodyPr wrap="square" lIns="0" tIns="0" rIns="0" bIns="0" rtlCol="0" anchor="ctr"/>
          <a:lstStyle/>
          <a:p>
            <a:pPr marL="0" indent="0">
              <a:buNone/>
            </a:pPr>
            <a:r>
              <a:rPr lang="en-US" sz="1200" kern="0" spc="200" dirty="0">
                <a:solidFill>
                  <a:srgbClr val="085951"/>
                </a:solidFill>
                <a:latin typeface="Consolas" pitchFamily="34" charset="0"/>
                <a:ea typeface="Consolas" pitchFamily="34" charset="-122"/>
                <a:cs typeface="Consolas" pitchFamily="34" charset="-120"/>
              </a:rPr>
              <a:t>WORKSHOP MATERIALS</a:t>
            </a:r>
            <a:endParaRPr lang="en-US" sz="1200" dirty="0"/>
          </a:p>
        </p:txBody>
      </p:sp>
      <p:sp>
        <p:nvSpPr>
          <p:cNvPr id="4" name="Text 2"/>
          <p:cNvSpPr/>
          <p:nvPr/>
        </p:nvSpPr>
        <p:spPr>
          <a:xfrm>
            <a:off x="457200" y="1554480"/>
            <a:ext cx="8229600" cy="1463040"/>
          </a:xfrm>
          <a:prstGeom prst="rect">
            <a:avLst/>
          </a:prstGeom>
          <a:noFill/>
          <a:ln/>
        </p:spPr>
        <p:txBody>
          <a:bodyPr wrap="square" lIns="0" tIns="0" rIns="0" bIns="0" rtlCol="0" anchor="t"/>
          <a:lstStyle/>
          <a:p>
            <a:pPr marL="0" indent="0" algn="l">
              <a:lnSpc>
                <a:spcPct val="105000"/>
              </a:lnSpc>
              <a:buNone/>
            </a:pPr>
            <a:r>
              <a:rPr lang="en-US" sz="4000" dirty="0">
                <a:solidFill>
                  <a:srgbClr val="F4F6F5"/>
                </a:solidFill>
                <a:latin typeface="Cambria" pitchFamily="34" charset="0"/>
                <a:ea typeface="Cambria" pitchFamily="34" charset="-122"/>
                <a:cs typeface="Cambria" pitchFamily="34" charset="-120"/>
              </a:rPr>
              <a:t>Writing Procedures</a:t>
            </a:r>
            <a:endParaRPr lang="en-US" sz="4000" dirty="0"/>
          </a:p>
        </p:txBody>
      </p:sp>
      <p:sp>
        <p:nvSpPr>
          <p:cNvPr id="5" name="Text 3"/>
          <p:cNvSpPr/>
          <p:nvPr/>
        </p:nvSpPr>
        <p:spPr>
          <a:xfrm>
            <a:off x="457200" y="3063240"/>
            <a:ext cx="8229600" cy="822960"/>
          </a:xfrm>
          <a:prstGeom prst="rect">
            <a:avLst/>
          </a:prstGeom>
          <a:noFill/>
          <a:ln/>
        </p:spPr>
        <p:txBody>
          <a:bodyPr wrap="square" lIns="0" tIns="0" rIns="0" bIns="0" rtlCol="0" anchor="t"/>
          <a:lstStyle/>
          <a:p>
            <a:pPr marL="0" indent="0" algn="l">
              <a:buNone/>
            </a:pPr>
            <a:r>
              <a:rPr lang="en-US" sz="1600" dirty="0">
                <a:solidFill>
                  <a:srgbClr val="93A19D"/>
                </a:solidFill>
                <a:latin typeface="Calibri" pitchFamily="34" charset="0"/>
                <a:ea typeface="Calibri" pitchFamily="34" charset="-122"/>
                <a:cs typeface="Calibri" pitchFamily="34" charset="-120"/>
              </a:rPr>
              <a:t>Best practices for writing clear, task-oriented procedures and user guides</a:t>
            </a:r>
            <a:endParaRPr lang="en-US" sz="1600" dirty="0"/>
          </a:p>
        </p:txBody>
      </p:sp>
      <p:sp>
        <p:nvSpPr>
          <p:cNvPr id="6" name="Text 4"/>
          <p:cNvSpPr/>
          <p:nvPr/>
        </p:nvSpPr>
        <p:spPr>
          <a:xfrm>
            <a:off x="457200" y="4366260"/>
            <a:ext cx="8229600" cy="365760"/>
          </a:xfrm>
          <a:prstGeom prst="rect">
            <a:avLst/>
          </a:prstGeom>
          <a:noFill/>
          <a:ln/>
        </p:spPr>
        <p:txBody>
          <a:bodyPr wrap="square" lIns="0" tIns="0" rIns="0" bIns="0" rtlCol="0" anchor="ctr"/>
          <a:lstStyle/>
          <a:p>
            <a:pPr marL="0" indent="0">
              <a:buNone/>
            </a:pPr>
            <a:r>
              <a:rPr lang="en-US" sz="1000" dirty="0">
                <a:solidFill>
                  <a:srgbClr val="5CD6C6"/>
                </a:solidFill>
                <a:latin typeface="Consolas" pitchFamily="34" charset="0"/>
                <a:ea typeface="Consolas" pitchFamily="34" charset="-122"/>
                <a:cs typeface="Consolas" pitchFamily="34" charset="-120"/>
              </a:rPr>
              <a:t>Richard Rabil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2</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AGENDA</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What we'll cover</a:t>
            </a:r>
            <a:endParaRPr lang="en-US" sz="2600" dirty="0"/>
          </a:p>
        </p:txBody>
      </p:sp>
      <p:sp>
        <p:nvSpPr>
          <p:cNvPr id="6" name="Text 4"/>
          <p:cNvSpPr/>
          <p:nvPr/>
        </p:nvSpPr>
        <p:spPr>
          <a:xfrm>
            <a:off x="457200" y="1417320"/>
            <a:ext cx="5166360" cy="3223260"/>
          </a:xfrm>
          <a:prstGeom prst="rect">
            <a:avLst/>
          </a:prstGeom>
          <a:noFill/>
          <a:ln/>
        </p:spPr>
        <p:txBody>
          <a:bodyPr wrap="square" lIns="0" tIns="0" rIns="0" bIns="0" rtlCol="0" anchor="t">
            <a:spAutoFit/>
          </a:bodyPr>
          <a:lstStyle/>
          <a:p>
            <a:pPr marL="203200" indent="-203200">
              <a:spcAft>
                <a:spcPts val="1000"/>
              </a:spcAft>
              <a:buSzPct val="100000"/>
              <a:buChar char="•"/>
            </a:pPr>
            <a:r>
              <a:rPr lang="en-US" sz="1400" dirty="0">
                <a:solidFill>
                  <a:srgbClr val="12181A"/>
                </a:solidFill>
                <a:latin typeface="Calibri" pitchFamily="34" charset="0"/>
                <a:ea typeface="Calibri" pitchFamily="34" charset="-122"/>
                <a:cs typeface="Calibri" pitchFamily="34" charset="-120"/>
              </a:rPr>
              <a:t>Task breakdown</a:t>
            </a:r>
            <a:endParaRPr lang="en-US" sz="1400" dirty="0"/>
          </a:p>
          <a:p>
            <a:pPr marL="203200" indent="-203200">
              <a:spcAft>
                <a:spcPts val="1000"/>
              </a:spcAft>
              <a:buSzPct val="100000"/>
              <a:buChar char="•"/>
            </a:pPr>
            <a:r>
              <a:rPr lang="en-US" sz="1400" dirty="0">
                <a:solidFill>
                  <a:srgbClr val="12181A"/>
                </a:solidFill>
                <a:latin typeface="Calibri" pitchFamily="34" charset="0"/>
                <a:ea typeface="Calibri" pitchFamily="34" charset="-122"/>
                <a:cs typeface="Calibri" pitchFamily="34" charset="-120"/>
              </a:rPr>
              <a:t>Definition of a procedure</a:t>
            </a:r>
            <a:endParaRPr lang="en-US" sz="1400" dirty="0"/>
          </a:p>
          <a:p>
            <a:pPr marL="203200" indent="-203200">
              <a:spcAft>
                <a:spcPts val="1000"/>
              </a:spcAft>
              <a:buSzPct val="100000"/>
              <a:buChar char="•"/>
            </a:pPr>
            <a:r>
              <a:rPr lang="en-US" sz="1400" dirty="0">
                <a:solidFill>
                  <a:srgbClr val="12181A"/>
                </a:solidFill>
                <a:latin typeface="Calibri" pitchFamily="34" charset="0"/>
                <a:ea typeface="Calibri" pitchFamily="34" charset="-122"/>
                <a:cs typeface="Calibri" pitchFamily="34" charset="-120"/>
              </a:rPr>
              <a:t>Anatomy of a procedure</a:t>
            </a:r>
            <a:endParaRPr lang="en-US" sz="1400" dirty="0"/>
          </a:p>
          <a:p>
            <a:pPr marL="203200" indent="-203200">
              <a:spcAft>
                <a:spcPts val="1000"/>
              </a:spcAft>
              <a:buSzPct val="100000"/>
              <a:buChar char="•"/>
            </a:pPr>
            <a:r>
              <a:rPr lang="en-US" sz="1400" dirty="0">
                <a:solidFill>
                  <a:srgbClr val="12181A"/>
                </a:solidFill>
                <a:latin typeface="Calibri" pitchFamily="34" charset="0"/>
                <a:ea typeface="Calibri" pitchFamily="34" charset="-122"/>
                <a:cs typeface="Calibri" pitchFamily="34" charset="-120"/>
              </a:rPr>
              <a:t>Best practices</a:t>
            </a:r>
            <a:endParaRPr lang="en-US" sz="1400" dirty="0"/>
          </a:p>
        </p:txBody>
      </p:sp>
      <p:sp>
        <p:nvSpPr>
          <p:cNvPr id="7" name="Shape 5"/>
          <p:cNvSpPr/>
          <p:nvPr/>
        </p:nvSpPr>
        <p:spPr>
          <a:xfrm>
            <a:off x="5943600" y="1417320"/>
            <a:ext cx="2743200" cy="3223260"/>
          </a:xfrm>
          <a:prstGeom prst="roundRect">
            <a:avLst>
              <a:gd name="adj" fmla="val 3333"/>
            </a:avLst>
          </a:prstGeom>
          <a:solidFill>
            <a:srgbClr val="EAEFED"/>
          </a:solidFill>
          <a:ln/>
          <a:effectLst>
            <a:outerShdw blurRad="76200" dist="25400" dir="5400000" algn="bl" rotWithShape="0">
              <a:srgbClr val="12181A">
                <a:alpha val="18000"/>
              </a:srgbClr>
            </a:outerShdw>
          </a:effectLst>
        </p:spPr>
        <p:txBody>
          <a:bodyPr/>
          <a:lstStyle/>
          <a:p>
            <a:endParaRPr lang="en-US"/>
          </a:p>
        </p:txBody>
      </p:sp>
      <p:sp>
        <p:nvSpPr>
          <p:cNvPr id="8" name="Text 6"/>
          <p:cNvSpPr/>
          <p:nvPr/>
        </p:nvSpPr>
        <p:spPr>
          <a:xfrm>
            <a:off x="6144768" y="1600200"/>
            <a:ext cx="2340864" cy="237744"/>
          </a:xfrm>
          <a:prstGeom prst="rect">
            <a:avLst/>
          </a:prstGeom>
          <a:noFill/>
          <a:ln/>
        </p:spPr>
        <p:txBody>
          <a:bodyPr wrap="square" lIns="0" tIns="0" rIns="0" bIns="0" rtlCol="0" anchor="ctr"/>
          <a:lstStyle/>
          <a:p>
            <a:pPr marL="0" indent="0">
              <a:buNone/>
            </a:pPr>
            <a:r>
              <a:rPr lang="en-US" sz="900" kern="0" spc="150" dirty="0">
                <a:solidFill>
                  <a:srgbClr val="0B6E63"/>
                </a:solidFill>
                <a:latin typeface="Consolas" pitchFamily="34" charset="0"/>
                <a:ea typeface="Consolas" pitchFamily="34" charset="-122"/>
                <a:cs typeface="Consolas" pitchFamily="34" charset="-120"/>
              </a:rPr>
              <a:t>DISCLAIMER</a:t>
            </a:r>
            <a:endParaRPr lang="en-US" sz="900" dirty="0"/>
          </a:p>
        </p:txBody>
      </p:sp>
      <p:sp>
        <p:nvSpPr>
          <p:cNvPr id="9" name="Text 7"/>
          <p:cNvSpPr/>
          <p:nvPr/>
        </p:nvSpPr>
        <p:spPr>
          <a:xfrm>
            <a:off x="6144768" y="1892808"/>
            <a:ext cx="2340864" cy="2811780"/>
          </a:xfrm>
          <a:prstGeom prst="rect">
            <a:avLst/>
          </a:prstGeom>
          <a:noFill/>
          <a:ln/>
        </p:spPr>
        <p:txBody>
          <a:bodyPr wrap="square" lIns="0" tIns="0" rIns="0" bIns="0" rtlCol="0" anchor="t"/>
          <a:lstStyle/>
          <a:p>
            <a:pPr marL="0" indent="0">
              <a:buNone/>
            </a:pPr>
            <a:r>
              <a:rPr lang="en-US" sz="1200" i="1" dirty="0">
                <a:solidFill>
                  <a:srgbClr val="4B5559"/>
                </a:solidFill>
                <a:latin typeface="Calibri" pitchFamily="34" charset="0"/>
                <a:ea typeface="Calibri" pitchFamily="34" charset="-122"/>
                <a:cs typeface="Calibri" pitchFamily="34" charset="-120"/>
              </a:rPr>
              <a:t>The following slides assume a documentation team's house style guide as the baseline. Defer to your own team's conventions where they differ.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3</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TASK BREAKDOWN</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It's the task, stupid.</a:t>
            </a:r>
            <a:endParaRPr lang="en-US" sz="2600" dirty="0"/>
          </a:p>
        </p:txBody>
      </p:sp>
      <p:sp>
        <p:nvSpPr>
          <p:cNvPr id="6" name="Text 4"/>
          <p:cNvSpPr/>
          <p:nvPr/>
        </p:nvSpPr>
        <p:spPr>
          <a:xfrm>
            <a:off x="457200" y="1417320"/>
            <a:ext cx="8229600" cy="365760"/>
          </a:xfrm>
          <a:prstGeom prst="rect">
            <a:avLst/>
          </a:prstGeom>
          <a:noFill/>
          <a:ln/>
        </p:spPr>
        <p:txBody>
          <a:bodyPr wrap="square" lIns="0" tIns="0" rIns="0" bIns="0" rtlCol="0" anchor="ctr"/>
          <a:lstStyle/>
          <a:p>
            <a:pPr marL="0" indent="0">
              <a:buNone/>
            </a:pPr>
            <a:r>
              <a:rPr lang="en-US" sz="1250" i="1" dirty="0">
                <a:solidFill>
                  <a:srgbClr val="4B5559"/>
                </a:solidFill>
                <a:latin typeface="Calibri" pitchFamily="34" charset="0"/>
                <a:ea typeface="Calibri" pitchFamily="34" charset="-122"/>
                <a:cs typeface="Calibri" pitchFamily="34" charset="-120"/>
              </a:rPr>
              <a:t>Example outline showing the task-oriented nature of user guides and SOPs, for a fictional admin console called Hero Builder:</a:t>
            </a:r>
            <a:endParaRPr lang="en-US" sz="1250" dirty="0"/>
          </a:p>
        </p:txBody>
      </p:sp>
      <p:sp>
        <p:nvSpPr>
          <p:cNvPr id="7" name="Text 5"/>
          <p:cNvSpPr/>
          <p:nvPr/>
        </p:nvSpPr>
        <p:spPr>
          <a:xfrm>
            <a:off x="457200" y="1874520"/>
            <a:ext cx="3954780" cy="256032"/>
          </a:xfrm>
          <a:prstGeom prst="rect">
            <a:avLst/>
          </a:prstGeom>
          <a:noFill/>
          <a:ln/>
        </p:spPr>
        <p:txBody>
          <a:bodyPr wrap="square" lIns="0" tIns="0" rIns="0" bIns="0" rtlCol="0" anchor="ctr"/>
          <a:lstStyle/>
          <a:p>
            <a:pPr marL="0" indent="0">
              <a:buNone/>
            </a:pPr>
            <a:r>
              <a:rPr lang="en-US" sz="1200" b="1" dirty="0">
                <a:solidFill>
                  <a:srgbClr val="0B6E63"/>
                </a:solidFill>
                <a:latin typeface="Calibri" pitchFamily="34" charset="0"/>
                <a:ea typeface="Calibri" pitchFamily="34" charset="-122"/>
                <a:cs typeface="Calibri" pitchFamily="34" charset="-120"/>
              </a:rPr>
              <a:t>Getting started</a:t>
            </a:r>
            <a:endParaRPr lang="en-US" sz="1200" dirty="0"/>
          </a:p>
        </p:txBody>
      </p:sp>
      <p:sp>
        <p:nvSpPr>
          <p:cNvPr id="8" name="Text 6"/>
          <p:cNvSpPr/>
          <p:nvPr/>
        </p:nvSpPr>
        <p:spPr>
          <a:xfrm>
            <a:off x="457200" y="2185416"/>
            <a:ext cx="3954780" cy="2455164"/>
          </a:xfrm>
          <a:prstGeom prst="rect">
            <a:avLst/>
          </a:prstGeom>
          <a:noFill/>
          <a:ln/>
        </p:spPr>
        <p:txBody>
          <a:bodyPr wrap="square" lIns="0" tIns="0" rIns="0" bIns="0" rtlCol="0" anchor="t">
            <a:spAutoFit/>
          </a:bodyPr>
          <a:lstStyle/>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About Hero Builder</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Accessing Hero Builder</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Managing your projects</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Refreshing and importing data</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Creating a new segment</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Creating a new project</a:t>
            </a:r>
            <a:endParaRPr lang="en-US" sz="1150" dirty="0"/>
          </a:p>
        </p:txBody>
      </p:sp>
      <p:sp>
        <p:nvSpPr>
          <p:cNvPr id="9" name="Text 7"/>
          <p:cNvSpPr/>
          <p:nvPr/>
        </p:nvSpPr>
        <p:spPr>
          <a:xfrm>
            <a:off x="4732020" y="1874520"/>
            <a:ext cx="3954780" cy="256032"/>
          </a:xfrm>
          <a:prstGeom prst="rect">
            <a:avLst/>
          </a:prstGeom>
          <a:noFill/>
          <a:ln/>
        </p:spPr>
        <p:txBody>
          <a:bodyPr wrap="square" lIns="0" tIns="0" rIns="0" bIns="0" rtlCol="0" anchor="ctr"/>
          <a:lstStyle/>
          <a:p>
            <a:pPr marL="0" indent="0">
              <a:buNone/>
            </a:pPr>
            <a:r>
              <a:rPr lang="en-US" sz="1200" b="1" dirty="0">
                <a:solidFill>
                  <a:srgbClr val="0B6E63"/>
                </a:solidFill>
                <a:latin typeface="Calibri" pitchFamily="34" charset="0"/>
                <a:ea typeface="Calibri" pitchFamily="34" charset="-122"/>
                <a:cs typeface="Calibri" pitchFamily="34" charset="-120"/>
              </a:rPr>
              <a:t>Running a project</a:t>
            </a:r>
            <a:endParaRPr lang="en-US" sz="1200" dirty="0"/>
          </a:p>
        </p:txBody>
      </p:sp>
      <p:sp>
        <p:nvSpPr>
          <p:cNvPr id="10" name="Text 8"/>
          <p:cNvSpPr/>
          <p:nvPr/>
        </p:nvSpPr>
        <p:spPr>
          <a:xfrm>
            <a:off x="4732020" y="2185416"/>
            <a:ext cx="3954780" cy="2455164"/>
          </a:xfrm>
          <a:prstGeom prst="rect">
            <a:avLst/>
          </a:prstGeom>
          <a:noFill/>
          <a:ln/>
        </p:spPr>
        <p:txBody>
          <a:bodyPr wrap="square" lIns="0" tIns="0" rIns="0" bIns="0" rtlCol="0" anchor="t">
            <a:spAutoFit/>
          </a:bodyPr>
          <a:lstStyle/>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Selecting customers</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Assigning settings to customers</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Testing the selection</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Deploying the selection</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Configuring a common project type</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Configuring a standard launch</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Configuring a standard expansion or refill</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Configuring program changes</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Troubleshooting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4</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DEFINITION</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Definition of a procedure</a:t>
            </a:r>
            <a:endParaRPr lang="en-US" sz="2600" dirty="0"/>
          </a:p>
        </p:txBody>
      </p:sp>
      <p:sp>
        <p:nvSpPr>
          <p:cNvPr id="6" name="Shape 4"/>
          <p:cNvSpPr/>
          <p:nvPr/>
        </p:nvSpPr>
        <p:spPr>
          <a:xfrm>
            <a:off x="457200" y="1417320"/>
            <a:ext cx="8229600" cy="3223260"/>
          </a:xfrm>
          <a:prstGeom prst="roundRect">
            <a:avLst>
              <a:gd name="adj" fmla="val 2837"/>
            </a:avLst>
          </a:prstGeom>
          <a:solidFill>
            <a:srgbClr val="EAEFED"/>
          </a:solidFill>
          <a:ln/>
          <a:effectLst>
            <a:outerShdw blurRad="76200" dist="25400" dir="5400000" algn="bl" rotWithShape="0">
              <a:srgbClr val="12181A">
                <a:alpha val="18000"/>
              </a:srgbClr>
            </a:outerShdw>
          </a:effectLst>
        </p:spPr>
        <p:txBody>
          <a:bodyPr/>
          <a:lstStyle/>
          <a:p>
            <a:endParaRPr lang="en-US"/>
          </a:p>
        </p:txBody>
      </p:sp>
      <p:sp>
        <p:nvSpPr>
          <p:cNvPr id="7" name="Text 5"/>
          <p:cNvSpPr/>
          <p:nvPr/>
        </p:nvSpPr>
        <p:spPr>
          <a:xfrm>
            <a:off x="960120" y="1737360"/>
            <a:ext cx="7223760" cy="1371600"/>
          </a:xfrm>
          <a:prstGeom prst="rect">
            <a:avLst/>
          </a:prstGeom>
          <a:noFill/>
          <a:ln/>
        </p:spPr>
        <p:txBody>
          <a:bodyPr wrap="square" lIns="0" tIns="0" rIns="0" bIns="0" rtlCol="0" anchor="t"/>
          <a:lstStyle/>
          <a:p>
            <a:pPr marL="0" indent="0">
              <a:lnSpc>
                <a:spcPct val="115000"/>
              </a:lnSpc>
              <a:buNone/>
            </a:pPr>
            <a:r>
              <a:rPr lang="en-US" sz="2200" i="1" dirty="0">
                <a:solidFill>
                  <a:srgbClr val="12181A"/>
                </a:solidFill>
                <a:latin typeface="Cambria" pitchFamily="34" charset="0"/>
                <a:ea typeface="Cambria" pitchFamily="34" charset="-122"/>
                <a:cs typeface="Cambria" pitchFamily="34" charset="-120"/>
              </a:rPr>
              <a:t>“A procedure is a short description of the steps a user takes to complete a specific task.”</a:t>
            </a:r>
            <a:endParaRPr lang="en-US" sz="2200" dirty="0"/>
          </a:p>
        </p:txBody>
      </p:sp>
      <p:sp>
        <p:nvSpPr>
          <p:cNvPr id="8" name="Text 6"/>
          <p:cNvSpPr/>
          <p:nvPr/>
        </p:nvSpPr>
        <p:spPr>
          <a:xfrm>
            <a:off x="960120" y="3200400"/>
            <a:ext cx="7223760" cy="365760"/>
          </a:xfrm>
          <a:prstGeom prst="rect">
            <a:avLst/>
          </a:prstGeom>
          <a:noFill/>
          <a:ln/>
        </p:spPr>
        <p:txBody>
          <a:bodyPr wrap="square" lIns="0" tIns="0" rIns="0" bIns="0" rtlCol="0" anchor="ctr"/>
          <a:lstStyle/>
          <a:p>
            <a:pPr marL="0" indent="0">
              <a:buNone/>
            </a:pPr>
            <a:r>
              <a:rPr lang="en-US" sz="1050" dirty="0">
                <a:solidFill>
                  <a:srgbClr val="0B6E63"/>
                </a:solidFill>
                <a:latin typeface="Consolas" pitchFamily="34" charset="0"/>
                <a:ea typeface="Consolas" pitchFamily="34" charset="-122"/>
                <a:cs typeface="Consolas" pitchFamily="34" charset="-120"/>
              </a:rPr>
              <a:t>— Microsoft Manual of Style for Technical Publications, 3rd Edition</a:t>
            </a:r>
            <a:endParaRPr lang="en-US" sz="1050" dirty="0"/>
          </a:p>
        </p:txBody>
      </p:sp>
      <p:sp>
        <p:nvSpPr>
          <p:cNvPr id="9" name="Text 7"/>
          <p:cNvSpPr/>
          <p:nvPr/>
        </p:nvSpPr>
        <p:spPr>
          <a:xfrm>
            <a:off x="960120" y="4046220"/>
            <a:ext cx="7223760" cy="457200"/>
          </a:xfrm>
          <a:prstGeom prst="rect">
            <a:avLst/>
          </a:prstGeom>
          <a:noFill/>
          <a:ln/>
        </p:spPr>
        <p:txBody>
          <a:bodyPr wrap="square" lIns="0" tIns="0" rIns="0" bIns="0" rtlCol="0" anchor="t"/>
          <a:lstStyle/>
          <a:p>
            <a:pPr marL="0" indent="0">
              <a:buNone/>
            </a:pPr>
            <a:r>
              <a:rPr lang="en-US" sz="1200" dirty="0">
                <a:solidFill>
                  <a:srgbClr val="4B5559"/>
                </a:solidFill>
                <a:latin typeface="Calibri" pitchFamily="34" charset="0"/>
                <a:ea typeface="Calibri" pitchFamily="34" charset="-122"/>
                <a:cs typeface="Calibri" pitchFamily="34" charset="-120"/>
              </a:rPr>
              <a:t>Note the 1:1 relationship between a task and a procedure.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5</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STRUCTURE</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Anatomy of a procedure</a:t>
            </a:r>
            <a:endParaRPr lang="en-US" sz="2600" dirty="0"/>
          </a:p>
        </p:txBody>
      </p:sp>
      <p:grpSp>
        <p:nvGrpSpPr>
          <p:cNvPr id="34" name="Group 33">
            <a:extLst>
              <a:ext uri="{FF2B5EF4-FFF2-40B4-BE49-F238E27FC236}">
                <a16:creationId xmlns:a16="http://schemas.microsoft.com/office/drawing/2014/main" id="{92A77E22-A19D-6226-C797-824B1F3595AF}"/>
              </a:ext>
            </a:extLst>
          </p:cNvPr>
          <p:cNvGrpSpPr/>
          <p:nvPr/>
        </p:nvGrpSpPr>
        <p:grpSpPr>
          <a:xfrm>
            <a:off x="905256" y="1275588"/>
            <a:ext cx="815122" cy="591432"/>
            <a:chOff x="566928" y="1600200"/>
            <a:chExt cx="815122" cy="591432"/>
          </a:xfrm>
        </p:grpSpPr>
        <p:sp>
          <p:nvSpPr>
            <p:cNvPr id="7" name="Shape 5"/>
            <p:cNvSpPr/>
            <p:nvPr/>
          </p:nvSpPr>
          <p:spPr>
            <a:xfrm>
              <a:off x="828185" y="1600200"/>
              <a:ext cx="292608" cy="292608"/>
            </a:xfrm>
            <a:prstGeom prst="ellipse">
              <a:avLst/>
            </a:prstGeom>
            <a:solidFill>
              <a:srgbClr val="0B6E63"/>
            </a:solidFill>
            <a:ln/>
          </p:spPr>
          <p:txBody>
            <a:bodyPr/>
            <a:lstStyle/>
            <a:p>
              <a:endParaRPr lang="en-US"/>
            </a:p>
          </p:txBody>
        </p:sp>
        <p:sp>
          <p:nvSpPr>
            <p:cNvPr id="8" name="Text 6"/>
            <p:cNvSpPr/>
            <p:nvPr/>
          </p:nvSpPr>
          <p:spPr>
            <a:xfrm>
              <a:off x="828185" y="1600200"/>
              <a:ext cx="292608" cy="292608"/>
            </a:xfrm>
            <a:prstGeom prst="rect">
              <a:avLst/>
            </a:prstGeom>
            <a:noFill/>
            <a:ln/>
          </p:spPr>
          <p:txBody>
            <a:bodyPr wrap="square" lIns="0" tIns="0" rIns="0" bIns="0" rtlCol="0" anchor="ctr"/>
            <a:lstStyle/>
            <a:p>
              <a:pPr marL="0" indent="0" algn="ctr">
                <a:buNone/>
              </a:pPr>
              <a:r>
                <a:rPr lang="en-US" sz="1200" b="1" dirty="0">
                  <a:solidFill>
                    <a:srgbClr val="F4FBFA"/>
                  </a:solidFill>
                  <a:latin typeface="Consolas" pitchFamily="34" charset="0"/>
                  <a:ea typeface="Consolas" pitchFamily="34" charset="-122"/>
                  <a:cs typeface="Consolas" pitchFamily="34" charset="-120"/>
                </a:rPr>
                <a:t>1</a:t>
              </a:r>
              <a:endParaRPr lang="en-US" sz="1200" dirty="0"/>
            </a:p>
          </p:txBody>
        </p:sp>
        <p:sp>
          <p:nvSpPr>
            <p:cNvPr id="9" name="Text 7"/>
            <p:cNvSpPr/>
            <p:nvPr/>
          </p:nvSpPr>
          <p:spPr>
            <a:xfrm>
              <a:off x="566928" y="1917312"/>
              <a:ext cx="815122" cy="274320"/>
            </a:xfrm>
            <a:prstGeom prst="rect">
              <a:avLst/>
            </a:prstGeom>
            <a:noFill/>
            <a:ln/>
          </p:spPr>
          <p:txBody>
            <a:bodyPr wrap="square" lIns="0" tIns="0" rIns="0" bIns="0" rtlCol="0" anchor="t"/>
            <a:lstStyle/>
            <a:p>
              <a:pPr marL="0" indent="0" algn="ctr">
                <a:lnSpc>
                  <a:spcPct val="110000"/>
                </a:lnSpc>
                <a:buNone/>
              </a:pPr>
              <a:r>
                <a:rPr lang="en-US" sz="1100" dirty="0">
                  <a:solidFill>
                    <a:srgbClr val="12181A"/>
                  </a:solidFill>
                  <a:latin typeface="Calibri" pitchFamily="34" charset="0"/>
                  <a:ea typeface="Calibri" pitchFamily="34" charset="-122"/>
                  <a:cs typeface="Calibri" pitchFamily="34" charset="-120"/>
                </a:rPr>
                <a:t>Task heading</a:t>
              </a:r>
              <a:endParaRPr lang="en-US" sz="1100" dirty="0"/>
            </a:p>
          </p:txBody>
        </p:sp>
      </p:grpSp>
      <p:grpSp>
        <p:nvGrpSpPr>
          <p:cNvPr id="35" name="Group 34">
            <a:extLst>
              <a:ext uri="{FF2B5EF4-FFF2-40B4-BE49-F238E27FC236}">
                <a16:creationId xmlns:a16="http://schemas.microsoft.com/office/drawing/2014/main" id="{2D3EA37D-4B99-8F79-0706-020018A4B261}"/>
              </a:ext>
            </a:extLst>
          </p:cNvPr>
          <p:cNvGrpSpPr/>
          <p:nvPr/>
        </p:nvGrpSpPr>
        <p:grpSpPr>
          <a:xfrm>
            <a:off x="930752" y="1897549"/>
            <a:ext cx="815122" cy="600058"/>
            <a:chOff x="1766098" y="1600200"/>
            <a:chExt cx="815122" cy="600058"/>
          </a:xfrm>
        </p:grpSpPr>
        <p:sp>
          <p:nvSpPr>
            <p:cNvPr id="11" name="Shape 9"/>
            <p:cNvSpPr/>
            <p:nvPr/>
          </p:nvSpPr>
          <p:spPr>
            <a:xfrm>
              <a:off x="2027355" y="1600200"/>
              <a:ext cx="292608" cy="292608"/>
            </a:xfrm>
            <a:prstGeom prst="ellipse">
              <a:avLst/>
            </a:prstGeom>
            <a:solidFill>
              <a:srgbClr val="0B6E63"/>
            </a:solidFill>
            <a:ln/>
          </p:spPr>
          <p:txBody>
            <a:bodyPr/>
            <a:lstStyle/>
            <a:p>
              <a:endParaRPr lang="en-US"/>
            </a:p>
          </p:txBody>
        </p:sp>
        <p:sp>
          <p:nvSpPr>
            <p:cNvPr id="12" name="Text 10"/>
            <p:cNvSpPr/>
            <p:nvPr/>
          </p:nvSpPr>
          <p:spPr>
            <a:xfrm>
              <a:off x="2027355" y="1600200"/>
              <a:ext cx="292608" cy="292608"/>
            </a:xfrm>
            <a:prstGeom prst="rect">
              <a:avLst/>
            </a:prstGeom>
            <a:noFill/>
            <a:ln/>
          </p:spPr>
          <p:txBody>
            <a:bodyPr wrap="square" lIns="0" tIns="0" rIns="0" bIns="0" rtlCol="0" anchor="ctr"/>
            <a:lstStyle/>
            <a:p>
              <a:pPr marL="0" indent="0" algn="ctr">
                <a:buNone/>
              </a:pPr>
              <a:r>
                <a:rPr lang="en-US" sz="1200" b="1" dirty="0">
                  <a:solidFill>
                    <a:srgbClr val="F4FBFA"/>
                  </a:solidFill>
                  <a:latin typeface="Consolas" pitchFamily="34" charset="0"/>
                  <a:ea typeface="Consolas" pitchFamily="34" charset="-122"/>
                  <a:cs typeface="Consolas" pitchFamily="34" charset="-120"/>
                </a:rPr>
                <a:t>2</a:t>
              </a:r>
              <a:endParaRPr lang="en-US" sz="1200" dirty="0"/>
            </a:p>
          </p:txBody>
        </p:sp>
        <p:sp>
          <p:nvSpPr>
            <p:cNvPr id="13" name="Text 11"/>
            <p:cNvSpPr/>
            <p:nvPr/>
          </p:nvSpPr>
          <p:spPr>
            <a:xfrm>
              <a:off x="1766098" y="1925938"/>
              <a:ext cx="815122" cy="274320"/>
            </a:xfrm>
            <a:prstGeom prst="rect">
              <a:avLst/>
            </a:prstGeom>
            <a:noFill/>
            <a:ln/>
          </p:spPr>
          <p:txBody>
            <a:bodyPr wrap="square" lIns="0" tIns="0" rIns="0" bIns="0" rtlCol="0" anchor="t"/>
            <a:lstStyle/>
            <a:p>
              <a:pPr marL="0" indent="0" algn="ctr">
                <a:lnSpc>
                  <a:spcPct val="110000"/>
                </a:lnSpc>
                <a:buNone/>
              </a:pPr>
              <a:r>
                <a:rPr lang="en-US" sz="1100" dirty="0">
                  <a:solidFill>
                    <a:srgbClr val="12181A"/>
                  </a:solidFill>
                  <a:latin typeface="Calibri" pitchFamily="34" charset="0"/>
                  <a:ea typeface="Calibri" pitchFamily="34" charset="-122"/>
                  <a:cs typeface="Calibri" pitchFamily="34" charset="-120"/>
                </a:rPr>
                <a:t>Introduction</a:t>
              </a:r>
              <a:endParaRPr lang="en-US" sz="1100" dirty="0"/>
            </a:p>
          </p:txBody>
        </p:sp>
      </p:grpSp>
      <p:grpSp>
        <p:nvGrpSpPr>
          <p:cNvPr id="36" name="Group 35">
            <a:extLst>
              <a:ext uri="{FF2B5EF4-FFF2-40B4-BE49-F238E27FC236}">
                <a16:creationId xmlns:a16="http://schemas.microsoft.com/office/drawing/2014/main" id="{49D583D8-2EFA-8D2F-3E51-CA7882F23B5C}"/>
              </a:ext>
            </a:extLst>
          </p:cNvPr>
          <p:cNvGrpSpPr/>
          <p:nvPr/>
        </p:nvGrpSpPr>
        <p:grpSpPr>
          <a:xfrm>
            <a:off x="1543203" y="2334090"/>
            <a:ext cx="1169471" cy="608684"/>
            <a:chOff x="2788094" y="1600200"/>
            <a:chExt cx="1169471" cy="608684"/>
          </a:xfrm>
        </p:grpSpPr>
        <p:sp>
          <p:nvSpPr>
            <p:cNvPr id="15" name="Shape 13"/>
            <p:cNvSpPr/>
            <p:nvPr/>
          </p:nvSpPr>
          <p:spPr>
            <a:xfrm>
              <a:off x="3226526" y="1600200"/>
              <a:ext cx="292608" cy="292608"/>
            </a:xfrm>
            <a:prstGeom prst="ellipse">
              <a:avLst/>
            </a:prstGeom>
            <a:solidFill>
              <a:srgbClr val="0B6E63"/>
            </a:solidFill>
            <a:ln/>
          </p:spPr>
          <p:txBody>
            <a:bodyPr/>
            <a:lstStyle/>
            <a:p>
              <a:endParaRPr lang="en-US"/>
            </a:p>
          </p:txBody>
        </p:sp>
        <p:sp>
          <p:nvSpPr>
            <p:cNvPr id="16" name="Text 14"/>
            <p:cNvSpPr/>
            <p:nvPr/>
          </p:nvSpPr>
          <p:spPr>
            <a:xfrm>
              <a:off x="3226526" y="1600200"/>
              <a:ext cx="292608" cy="292608"/>
            </a:xfrm>
            <a:prstGeom prst="rect">
              <a:avLst/>
            </a:prstGeom>
            <a:noFill/>
            <a:ln/>
          </p:spPr>
          <p:txBody>
            <a:bodyPr wrap="square" lIns="0" tIns="0" rIns="0" bIns="0" rtlCol="0" anchor="ctr"/>
            <a:lstStyle/>
            <a:p>
              <a:pPr marL="0" indent="0" algn="ctr">
                <a:buNone/>
              </a:pPr>
              <a:r>
                <a:rPr lang="en-US" sz="1200" b="1" dirty="0">
                  <a:solidFill>
                    <a:srgbClr val="F4FBFA"/>
                  </a:solidFill>
                  <a:latin typeface="Consolas" pitchFamily="34" charset="0"/>
                  <a:ea typeface="Consolas" pitchFamily="34" charset="-122"/>
                  <a:cs typeface="Consolas" pitchFamily="34" charset="-120"/>
                </a:rPr>
                <a:t>3</a:t>
              </a:r>
              <a:endParaRPr lang="en-US" sz="1200" dirty="0"/>
            </a:p>
          </p:txBody>
        </p:sp>
        <p:sp>
          <p:nvSpPr>
            <p:cNvPr id="17" name="Text 15"/>
            <p:cNvSpPr/>
            <p:nvPr/>
          </p:nvSpPr>
          <p:spPr>
            <a:xfrm>
              <a:off x="2788094" y="1934564"/>
              <a:ext cx="1169471" cy="274320"/>
            </a:xfrm>
            <a:prstGeom prst="rect">
              <a:avLst/>
            </a:prstGeom>
            <a:noFill/>
            <a:ln/>
          </p:spPr>
          <p:txBody>
            <a:bodyPr wrap="square" lIns="0" tIns="0" rIns="0" bIns="0" rtlCol="0" anchor="t"/>
            <a:lstStyle/>
            <a:p>
              <a:pPr marL="0" indent="0" algn="ctr">
                <a:lnSpc>
                  <a:spcPct val="110000"/>
                </a:lnSpc>
                <a:buNone/>
              </a:pPr>
              <a:r>
                <a:rPr lang="en-US" sz="1100" dirty="0">
                  <a:solidFill>
                    <a:srgbClr val="12181A"/>
                  </a:solidFill>
                  <a:latin typeface="Calibri" pitchFamily="34" charset="0"/>
                  <a:ea typeface="Calibri" pitchFamily="34" charset="-122"/>
                  <a:cs typeface="Calibri" pitchFamily="34" charset="-120"/>
                </a:rPr>
                <a:t>Procedure heading</a:t>
              </a:r>
              <a:endParaRPr lang="en-US" sz="1100" dirty="0"/>
            </a:p>
          </p:txBody>
        </p:sp>
      </p:grpSp>
      <p:grpSp>
        <p:nvGrpSpPr>
          <p:cNvPr id="37" name="Group 36">
            <a:extLst>
              <a:ext uri="{FF2B5EF4-FFF2-40B4-BE49-F238E27FC236}">
                <a16:creationId xmlns:a16="http://schemas.microsoft.com/office/drawing/2014/main" id="{595F78CD-8FBC-1829-16D1-263934AB73E9}"/>
              </a:ext>
            </a:extLst>
          </p:cNvPr>
          <p:cNvGrpSpPr/>
          <p:nvPr/>
        </p:nvGrpSpPr>
        <p:grpSpPr>
          <a:xfrm>
            <a:off x="574138" y="2946739"/>
            <a:ext cx="815122" cy="608684"/>
            <a:chOff x="4164439" y="1600200"/>
            <a:chExt cx="815122" cy="608684"/>
          </a:xfrm>
        </p:grpSpPr>
        <p:sp>
          <p:nvSpPr>
            <p:cNvPr id="19" name="Shape 17"/>
            <p:cNvSpPr/>
            <p:nvPr/>
          </p:nvSpPr>
          <p:spPr>
            <a:xfrm>
              <a:off x="4425696" y="1600200"/>
              <a:ext cx="292608" cy="292608"/>
            </a:xfrm>
            <a:prstGeom prst="ellipse">
              <a:avLst/>
            </a:prstGeom>
            <a:solidFill>
              <a:srgbClr val="0B6E63"/>
            </a:solidFill>
            <a:ln/>
          </p:spPr>
          <p:txBody>
            <a:bodyPr/>
            <a:lstStyle/>
            <a:p>
              <a:endParaRPr lang="en-US"/>
            </a:p>
          </p:txBody>
        </p:sp>
        <p:sp>
          <p:nvSpPr>
            <p:cNvPr id="20" name="Text 18"/>
            <p:cNvSpPr/>
            <p:nvPr/>
          </p:nvSpPr>
          <p:spPr>
            <a:xfrm>
              <a:off x="4425696" y="1600200"/>
              <a:ext cx="292608" cy="292608"/>
            </a:xfrm>
            <a:prstGeom prst="rect">
              <a:avLst/>
            </a:prstGeom>
            <a:noFill/>
            <a:ln/>
          </p:spPr>
          <p:txBody>
            <a:bodyPr wrap="square" lIns="0" tIns="0" rIns="0" bIns="0" rtlCol="0" anchor="ctr"/>
            <a:lstStyle/>
            <a:p>
              <a:pPr marL="0" indent="0" algn="ctr">
                <a:buNone/>
              </a:pPr>
              <a:r>
                <a:rPr lang="en-US" sz="1200" b="1" dirty="0">
                  <a:solidFill>
                    <a:srgbClr val="F4FBFA"/>
                  </a:solidFill>
                  <a:latin typeface="Consolas" pitchFamily="34" charset="0"/>
                  <a:ea typeface="Consolas" pitchFamily="34" charset="-122"/>
                  <a:cs typeface="Consolas" pitchFamily="34" charset="-120"/>
                </a:rPr>
                <a:t>4</a:t>
              </a:r>
              <a:endParaRPr lang="en-US" sz="1200" dirty="0"/>
            </a:p>
          </p:txBody>
        </p:sp>
        <p:sp>
          <p:nvSpPr>
            <p:cNvPr id="21" name="Text 19"/>
            <p:cNvSpPr/>
            <p:nvPr/>
          </p:nvSpPr>
          <p:spPr>
            <a:xfrm>
              <a:off x="4164439" y="1934564"/>
              <a:ext cx="815122" cy="274320"/>
            </a:xfrm>
            <a:prstGeom prst="rect">
              <a:avLst/>
            </a:prstGeom>
            <a:noFill/>
            <a:ln/>
          </p:spPr>
          <p:txBody>
            <a:bodyPr wrap="square" lIns="0" tIns="0" rIns="0" bIns="0" rtlCol="0" anchor="t"/>
            <a:lstStyle/>
            <a:p>
              <a:pPr marL="0" indent="0" algn="ctr">
                <a:lnSpc>
                  <a:spcPct val="110000"/>
                </a:lnSpc>
                <a:buNone/>
              </a:pPr>
              <a:r>
                <a:rPr lang="en-US" sz="1100" dirty="0">
                  <a:solidFill>
                    <a:srgbClr val="12181A"/>
                  </a:solidFill>
                  <a:latin typeface="Calibri" pitchFamily="34" charset="0"/>
                  <a:ea typeface="Calibri" pitchFamily="34" charset="-122"/>
                  <a:cs typeface="Calibri" pitchFamily="34" charset="-120"/>
                </a:rPr>
                <a:t>Step</a:t>
              </a:r>
              <a:endParaRPr lang="en-US" sz="1100" dirty="0"/>
            </a:p>
          </p:txBody>
        </p:sp>
      </p:grpSp>
      <p:grpSp>
        <p:nvGrpSpPr>
          <p:cNvPr id="38" name="Group 37">
            <a:extLst>
              <a:ext uri="{FF2B5EF4-FFF2-40B4-BE49-F238E27FC236}">
                <a16:creationId xmlns:a16="http://schemas.microsoft.com/office/drawing/2014/main" id="{3F8BFC46-A4AC-C99E-380B-7B432A8E9A48}"/>
              </a:ext>
            </a:extLst>
          </p:cNvPr>
          <p:cNvGrpSpPr/>
          <p:nvPr/>
        </p:nvGrpSpPr>
        <p:grpSpPr>
          <a:xfrm>
            <a:off x="1074106" y="3165009"/>
            <a:ext cx="815122" cy="608684"/>
            <a:chOff x="5363609" y="1600200"/>
            <a:chExt cx="815122" cy="608684"/>
          </a:xfrm>
        </p:grpSpPr>
        <p:sp>
          <p:nvSpPr>
            <p:cNvPr id="23" name="Shape 21"/>
            <p:cNvSpPr/>
            <p:nvPr/>
          </p:nvSpPr>
          <p:spPr>
            <a:xfrm>
              <a:off x="5624866" y="1600200"/>
              <a:ext cx="292608" cy="292608"/>
            </a:xfrm>
            <a:prstGeom prst="ellipse">
              <a:avLst/>
            </a:prstGeom>
            <a:solidFill>
              <a:srgbClr val="0B6E63"/>
            </a:solidFill>
            <a:ln/>
          </p:spPr>
          <p:txBody>
            <a:bodyPr/>
            <a:lstStyle/>
            <a:p>
              <a:endParaRPr lang="en-US"/>
            </a:p>
          </p:txBody>
        </p:sp>
        <p:sp>
          <p:nvSpPr>
            <p:cNvPr id="24" name="Text 22"/>
            <p:cNvSpPr/>
            <p:nvPr/>
          </p:nvSpPr>
          <p:spPr>
            <a:xfrm>
              <a:off x="5624866" y="1600200"/>
              <a:ext cx="292608" cy="292608"/>
            </a:xfrm>
            <a:prstGeom prst="rect">
              <a:avLst/>
            </a:prstGeom>
            <a:noFill/>
            <a:ln/>
          </p:spPr>
          <p:txBody>
            <a:bodyPr wrap="square" lIns="0" tIns="0" rIns="0" bIns="0" rtlCol="0" anchor="ctr"/>
            <a:lstStyle/>
            <a:p>
              <a:pPr marL="0" indent="0" algn="ctr">
                <a:buNone/>
              </a:pPr>
              <a:r>
                <a:rPr lang="en-US" sz="1200" b="1" dirty="0">
                  <a:solidFill>
                    <a:srgbClr val="F4FBFA"/>
                  </a:solidFill>
                  <a:latin typeface="Consolas" pitchFamily="34" charset="0"/>
                  <a:ea typeface="Consolas" pitchFamily="34" charset="-122"/>
                  <a:cs typeface="Consolas" pitchFamily="34" charset="-120"/>
                </a:rPr>
                <a:t>5</a:t>
              </a:r>
              <a:endParaRPr lang="en-US" sz="1200" dirty="0"/>
            </a:p>
          </p:txBody>
        </p:sp>
        <p:sp>
          <p:nvSpPr>
            <p:cNvPr id="25" name="Text 23"/>
            <p:cNvSpPr/>
            <p:nvPr/>
          </p:nvSpPr>
          <p:spPr>
            <a:xfrm>
              <a:off x="5363609" y="1934564"/>
              <a:ext cx="815122" cy="274320"/>
            </a:xfrm>
            <a:prstGeom prst="rect">
              <a:avLst/>
            </a:prstGeom>
            <a:noFill/>
            <a:ln/>
          </p:spPr>
          <p:txBody>
            <a:bodyPr wrap="square" lIns="0" tIns="0" rIns="0" bIns="0" rtlCol="0" anchor="t"/>
            <a:lstStyle/>
            <a:p>
              <a:pPr marL="0" indent="0" algn="ctr">
                <a:lnSpc>
                  <a:spcPct val="110000"/>
                </a:lnSpc>
                <a:buNone/>
              </a:pPr>
              <a:r>
                <a:rPr lang="en-US" sz="1100" dirty="0">
                  <a:solidFill>
                    <a:srgbClr val="12181A"/>
                  </a:solidFill>
                  <a:latin typeface="Calibri" pitchFamily="34" charset="0"/>
                  <a:ea typeface="Calibri" pitchFamily="34" charset="-122"/>
                  <a:cs typeface="Calibri" pitchFamily="34" charset="-120"/>
                </a:rPr>
                <a:t>Note</a:t>
              </a:r>
              <a:endParaRPr lang="en-US" sz="1100" dirty="0"/>
            </a:p>
          </p:txBody>
        </p:sp>
      </p:grpSp>
      <p:grpSp>
        <p:nvGrpSpPr>
          <p:cNvPr id="39" name="Group 38">
            <a:extLst>
              <a:ext uri="{FF2B5EF4-FFF2-40B4-BE49-F238E27FC236}">
                <a16:creationId xmlns:a16="http://schemas.microsoft.com/office/drawing/2014/main" id="{43034A32-0DB1-5D8F-7231-7DF8C72ACDB2}"/>
              </a:ext>
            </a:extLst>
          </p:cNvPr>
          <p:cNvGrpSpPr/>
          <p:nvPr/>
        </p:nvGrpSpPr>
        <p:grpSpPr>
          <a:xfrm>
            <a:off x="1574074" y="3534156"/>
            <a:ext cx="815122" cy="600058"/>
            <a:chOff x="6562779" y="1600200"/>
            <a:chExt cx="815122" cy="600058"/>
          </a:xfrm>
        </p:grpSpPr>
        <p:sp>
          <p:nvSpPr>
            <p:cNvPr id="27" name="Shape 25"/>
            <p:cNvSpPr/>
            <p:nvPr/>
          </p:nvSpPr>
          <p:spPr>
            <a:xfrm>
              <a:off x="6824037" y="1600200"/>
              <a:ext cx="292608" cy="292608"/>
            </a:xfrm>
            <a:prstGeom prst="ellipse">
              <a:avLst/>
            </a:prstGeom>
            <a:solidFill>
              <a:srgbClr val="0B6E63"/>
            </a:solidFill>
            <a:ln/>
          </p:spPr>
          <p:txBody>
            <a:bodyPr/>
            <a:lstStyle/>
            <a:p>
              <a:endParaRPr lang="en-US"/>
            </a:p>
          </p:txBody>
        </p:sp>
        <p:sp>
          <p:nvSpPr>
            <p:cNvPr id="28" name="Text 26"/>
            <p:cNvSpPr/>
            <p:nvPr/>
          </p:nvSpPr>
          <p:spPr>
            <a:xfrm>
              <a:off x="6824037" y="1600200"/>
              <a:ext cx="292608" cy="292608"/>
            </a:xfrm>
            <a:prstGeom prst="rect">
              <a:avLst/>
            </a:prstGeom>
            <a:noFill/>
            <a:ln/>
          </p:spPr>
          <p:txBody>
            <a:bodyPr wrap="square" lIns="0" tIns="0" rIns="0" bIns="0" rtlCol="0" anchor="ctr"/>
            <a:lstStyle/>
            <a:p>
              <a:pPr marL="0" indent="0" algn="ctr">
                <a:buNone/>
              </a:pPr>
              <a:r>
                <a:rPr lang="en-US" sz="1200" b="1" dirty="0">
                  <a:solidFill>
                    <a:srgbClr val="F4FBFA"/>
                  </a:solidFill>
                  <a:latin typeface="Consolas" pitchFamily="34" charset="0"/>
                  <a:ea typeface="Consolas" pitchFamily="34" charset="-122"/>
                  <a:cs typeface="Consolas" pitchFamily="34" charset="-120"/>
                </a:rPr>
                <a:t>6</a:t>
              </a:r>
              <a:endParaRPr lang="en-US" sz="1200" dirty="0"/>
            </a:p>
          </p:txBody>
        </p:sp>
        <p:sp>
          <p:nvSpPr>
            <p:cNvPr id="29" name="Text 27"/>
            <p:cNvSpPr/>
            <p:nvPr/>
          </p:nvSpPr>
          <p:spPr>
            <a:xfrm>
              <a:off x="6562779" y="1925938"/>
              <a:ext cx="815122" cy="274320"/>
            </a:xfrm>
            <a:prstGeom prst="rect">
              <a:avLst/>
            </a:prstGeom>
            <a:noFill/>
            <a:ln/>
          </p:spPr>
          <p:txBody>
            <a:bodyPr wrap="square" lIns="0" tIns="0" rIns="0" bIns="0" rtlCol="0" anchor="t"/>
            <a:lstStyle/>
            <a:p>
              <a:pPr marL="0" indent="0" algn="ctr">
                <a:lnSpc>
                  <a:spcPct val="110000"/>
                </a:lnSpc>
                <a:buNone/>
              </a:pPr>
              <a:r>
                <a:rPr lang="en-US" sz="1100" dirty="0">
                  <a:solidFill>
                    <a:srgbClr val="12181A"/>
                  </a:solidFill>
                  <a:latin typeface="Calibri" pitchFamily="34" charset="0"/>
                  <a:ea typeface="Calibri" pitchFamily="34" charset="-122"/>
                  <a:cs typeface="Calibri" pitchFamily="34" charset="-120"/>
                </a:rPr>
                <a:t>Optional step</a:t>
              </a:r>
              <a:endParaRPr lang="en-US" sz="1100" dirty="0"/>
            </a:p>
          </p:txBody>
        </p:sp>
      </p:grpSp>
      <p:grpSp>
        <p:nvGrpSpPr>
          <p:cNvPr id="40" name="Group 39">
            <a:extLst>
              <a:ext uri="{FF2B5EF4-FFF2-40B4-BE49-F238E27FC236}">
                <a16:creationId xmlns:a16="http://schemas.microsoft.com/office/drawing/2014/main" id="{E36187E1-9FAF-1313-2C47-29E9EB91C648}"/>
              </a:ext>
            </a:extLst>
          </p:cNvPr>
          <p:cNvGrpSpPr/>
          <p:nvPr/>
        </p:nvGrpSpPr>
        <p:grpSpPr>
          <a:xfrm>
            <a:off x="2203077" y="3998891"/>
            <a:ext cx="815122" cy="600058"/>
            <a:chOff x="7761950" y="1600200"/>
            <a:chExt cx="815122" cy="600058"/>
          </a:xfrm>
        </p:grpSpPr>
        <p:sp>
          <p:nvSpPr>
            <p:cNvPr id="31" name="Shape 29"/>
            <p:cNvSpPr/>
            <p:nvPr/>
          </p:nvSpPr>
          <p:spPr>
            <a:xfrm>
              <a:off x="8023207" y="1600200"/>
              <a:ext cx="292608" cy="292608"/>
            </a:xfrm>
            <a:prstGeom prst="ellipse">
              <a:avLst/>
            </a:prstGeom>
            <a:solidFill>
              <a:srgbClr val="0B6E63"/>
            </a:solidFill>
            <a:ln/>
          </p:spPr>
          <p:txBody>
            <a:bodyPr/>
            <a:lstStyle/>
            <a:p>
              <a:endParaRPr lang="en-US"/>
            </a:p>
          </p:txBody>
        </p:sp>
        <p:sp>
          <p:nvSpPr>
            <p:cNvPr id="32" name="Text 30"/>
            <p:cNvSpPr/>
            <p:nvPr/>
          </p:nvSpPr>
          <p:spPr>
            <a:xfrm>
              <a:off x="8023207" y="1600200"/>
              <a:ext cx="292608" cy="292608"/>
            </a:xfrm>
            <a:prstGeom prst="rect">
              <a:avLst/>
            </a:prstGeom>
            <a:noFill/>
            <a:ln/>
          </p:spPr>
          <p:txBody>
            <a:bodyPr wrap="square" lIns="0" tIns="0" rIns="0" bIns="0" rtlCol="0" anchor="ctr"/>
            <a:lstStyle/>
            <a:p>
              <a:pPr marL="0" indent="0" algn="ctr">
                <a:buNone/>
              </a:pPr>
              <a:r>
                <a:rPr lang="en-US" sz="1200" b="1" dirty="0">
                  <a:solidFill>
                    <a:srgbClr val="F4FBFA"/>
                  </a:solidFill>
                  <a:latin typeface="Consolas" pitchFamily="34" charset="0"/>
                  <a:ea typeface="Consolas" pitchFamily="34" charset="-122"/>
                  <a:cs typeface="Consolas" pitchFamily="34" charset="-120"/>
                </a:rPr>
                <a:t>7</a:t>
              </a:r>
              <a:endParaRPr lang="en-US" sz="1200" dirty="0"/>
            </a:p>
          </p:txBody>
        </p:sp>
        <p:sp>
          <p:nvSpPr>
            <p:cNvPr id="33" name="Text 31"/>
            <p:cNvSpPr/>
            <p:nvPr/>
          </p:nvSpPr>
          <p:spPr>
            <a:xfrm>
              <a:off x="7761950" y="1925938"/>
              <a:ext cx="815122" cy="274320"/>
            </a:xfrm>
            <a:prstGeom prst="rect">
              <a:avLst/>
            </a:prstGeom>
            <a:noFill/>
            <a:ln/>
          </p:spPr>
          <p:txBody>
            <a:bodyPr wrap="square" lIns="0" tIns="0" rIns="0" bIns="0" rtlCol="0" anchor="t"/>
            <a:lstStyle/>
            <a:p>
              <a:pPr marL="0" indent="0" algn="ctr">
                <a:lnSpc>
                  <a:spcPct val="110000"/>
                </a:lnSpc>
                <a:buNone/>
              </a:pPr>
              <a:r>
                <a:rPr lang="en-US" sz="1100" dirty="0">
                  <a:solidFill>
                    <a:srgbClr val="12181A"/>
                  </a:solidFill>
                  <a:latin typeface="Calibri" pitchFamily="34" charset="0"/>
                  <a:ea typeface="Calibri" pitchFamily="34" charset="-122"/>
                  <a:cs typeface="Calibri" pitchFamily="34" charset="-120"/>
                </a:rPr>
                <a:t>Anchor link</a:t>
              </a:r>
              <a:endParaRPr lang="en-US" sz="1100" dirty="0"/>
            </a:p>
          </p:txBody>
        </p:sp>
      </p:grpSp>
      <p:sp>
        <p:nvSpPr>
          <p:cNvPr id="43" name="Shape 6"/>
          <p:cNvSpPr/>
          <p:nvPr/>
        </p:nvSpPr>
        <p:spPr>
          <a:xfrm>
            <a:off x="3814764" y="1052422"/>
            <a:ext cx="4846320" cy="3783925"/>
          </a:xfrm>
          <a:prstGeom prst="roundRect">
            <a:avLst>
              <a:gd name="adj" fmla="val 2270"/>
            </a:avLst>
          </a:prstGeom>
          <a:solidFill>
            <a:srgbClr val="FFFFFF"/>
          </a:solidFill>
          <a:ln w="12700">
            <a:solidFill>
              <a:srgbClr val="D2DAD7"/>
            </a:solidFill>
            <a:prstDash val="solid"/>
          </a:ln>
          <a:effectLst>
            <a:outerShdw blurRad="76200" dist="25400" dir="5400000" algn="bl" rotWithShape="0">
              <a:srgbClr val="12181A">
                <a:alpha val="18000"/>
              </a:srgbClr>
            </a:outerShdw>
          </a:effectLst>
        </p:spPr>
        <p:txBody>
          <a:bodyPr/>
          <a:lstStyle/>
          <a:p>
            <a:endParaRPr lang="en-US"/>
          </a:p>
        </p:txBody>
      </p:sp>
      <p:sp>
        <p:nvSpPr>
          <p:cNvPr id="44" name="Shape 7"/>
          <p:cNvSpPr/>
          <p:nvPr/>
        </p:nvSpPr>
        <p:spPr>
          <a:xfrm>
            <a:off x="3979356" y="1160768"/>
            <a:ext cx="4517136" cy="315294"/>
          </a:xfrm>
          <a:prstGeom prst="roundRect">
            <a:avLst>
              <a:gd name="adj" fmla="val 18750"/>
            </a:avLst>
          </a:prstGeom>
          <a:solidFill>
            <a:srgbClr val="FFFFFF"/>
          </a:solidFill>
          <a:ln w="9525">
            <a:solidFill>
              <a:srgbClr val="D2DAD7"/>
            </a:solidFill>
            <a:prstDash val="solid"/>
          </a:ln>
        </p:spPr>
        <p:txBody>
          <a:bodyPr/>
          <a:lstStyle/>
          <a:p>
            <a:endParaRPr lang="en-US"/>
          </a:p>
        </p:txBody>
      </p:sp>
      <p:sp>
        <p:nvSpPr>
          <p:cNvPr id="45" name="Shape 8"/>
          <p:cNvSpPr/>
          <p:nvPr/>
        </p:nvSpPr>
        <p:spPr>
          <a:xfrm>
            <a:off x="4107372" y="1274077"/>
            <a:ext cx="82296" cy="88676"/>
          </a:xfrm>
          <a:prstGeom prst="ellipse">
            <a:avLst/>
          </a:prstGeom>
          <a:solidFill>
            <a:srgbClr val="A9631E"/>
          </a:solidFill>
          <a:ln/>
        </p:spPr>
        <p:txBody>
          <a:bodyPr/>
          <a:lstStyle/>
          <a:p>
            <a:endParaRPr lang="en-US"/>
          </a:p>
        </p:txBody>
      </p:sp>
      <p:sp>
        <p:nvSpPr>
          <p:cNvPr id="46" name="Shape 9"/>
          <p:cNvSpPr/>
          <p:nvPr/>
        </p:nvSpPr>
        <p:spPr>
          <a:xfrm>
            <a:off x="4253676" y="1274077"/>
            <a:ext cx="82296" cy="88676"/>
          </a:xfrm>
          <a:prstGeom prst="ellipse">
            <a:avLst/>
          </a:prstGeom>
          <a:solidFill>
            <a:srgbClr val="D2AF7A"/>
          </a:solidFill>
          <a:ln/>
        </p:spPr>
        <p:txBody>
          <a:bodyPr/>
          <a:lstStyle/>
          <a:p>
            <a:endParaRPr lang="en-US"/>
          </a:p>
        </p:txBody>
      </p:sp>
      <p:sp>
        <p:nvSpPr>
          <p:cNvPr id="47" name="Shape 10"/>
          <p:cNvSpPr/>
          <p:nvPr/>
        </p:nvSpPr>
        <p:spPr>
          <a:xfrm>
            <a:off x="4399980" y="1274077"/>
            <a:ext cx="82296" cy="88676"/>
          </a:xfrm>
          <a:prstGeom prst="ellipse">
            <a:avLst/>
          </a:prstGeom>
          <a:solidFill>
            <a:srgbClr val="0B6E63"/>
          </a:solidFill>
          <a:ln/>
        </p:spPr>
        <p:txBody>
          <a:bodyPr/>
          <a:lstStyle/>
          <a:p>
            <a:endParaRPr lang="en-US"/>
          </a:p>
        </p:txBody>
      </p:sp>
      <p:sp>
        <p:nvSpPr>
          <p:cNvPr id="48" name="Shape 11"/>
          <p:cNvSpPr/>
          <p:nvPr/>
        </p:nvSpPr>
        <p:spPr>
          <a:xfrm>
            <a:off x="4527996" y="1219885"/>
            <a:ext cx="3831336" cy="197059"/>
          </a:xfrm>
          <a:prstGeom prst="roundRect">
            <a:avLst>
              <a:gd name="adj" fmla="val 25000"/>
            </a:avLst>
          </a:prstGeom>
          <a:solidFill>
            <a:srgbClr val="EAEFED"/>
          </a:solidFill>
          <a:ln/>
        </p:spPr>
        <p:txBody>
          <a:bodyPr/>
          <a:lstStyle/>
          <a:p>
            <a:endParaRPr lang="en-US"/>
          </a:p>
        </p:txBody>
      </p:sp>
      <p:sp>
        <p:nvSpPr>
          <p:cNvPr id="49" name="Text 12"/>
          <p:cNvSpPr/>
          <p:nvPr/>
        </p:nvSpPr>
        <p:spPr>
          <a:xfrm>
            <a:off x="4601148" y="1219885"/>
            <a:ext cx="3694176" cy="197059"/>
          </a:xfrm>
          <a:prstGeom prst="rect">
            <a:avLst/>
          </a:prstGeom>
          <a:noFill/>
          <a:ln/>
        </p:spPr>
        <p:txBody>
          <a:bodyPr wrap="square" lIns="0" tIns="0" rIns="0" bIns="0" rtlCol="0" anchor="ctr"/>
          <a:lstStyle/>
          <a:p>
            <a:pPr marL="0" indent="0">
              <a:buNone/>
            </a:pPr>
            <a:r>
              <a:rPr lang="en-US" sz="800" dirty="0">
                <a:solidFill>
                  <a:srgbClr val="4B5559"/>
                </a:solidFill>
                <a:latin typeface="Consolas" pitchFamily="34" charset="0"/>
                <a:ea typeface="Consolas" pitchFamily="34" charset="-122"/>
                <a:cs typeface="Consolas" pitchFamily="34" charset="-120"/>
              </a:rPr>
              <a:t>solsticedocs.internal/procedure-composer/new</a:t>
            </a:r>
            <a:endParaRPr lang="en-US" sz="800" dirty="0"/>
          </a:p>
        </p:txBody>
      </p:sp>
      <p:sp>
        <p:nvSpPr>
          <p:cNvPr id="50" name="Text 13"/>
          <p:cNvSpPr/>
          <p:nvPr/>
        </p:nvSpPr>
        <p:spPr>
          <a:xfrm>
            <a:off x="4013860" y="1581999"/>
            <a:ext cx="4517136" cy="629422"/>
          </a:xfrm>
          <a:prstGeom prst="rect">
            <a:avLst/>
          </a:prstGeom>
          <a:noFill/>
          <a:ln/>
        </p:spPr>
        <p:txBody>
          <a:bodyPr wrap="square" lIns="0" tIns="0" rIns="0" bIns="0" rtlCol="0" anchor="ctr"/>
          <a:lstStyle/>
          <a:p>
            <a:pPr marL="0" indent="0">
              <a:buNone/>
            </a:pPr>
            <a:r>
              <a:rPr lang="en-US" sz="1200" b="1" dirty="0">
                <a:solidFill>
                  <a:srgbClr val="12181A"/>
                </a:solidFill>
                <a:latin typeface="Calibri" pitchFamily="34" charset="0"/>
                <a:ea typeface="Calibri" pitchFamily="34" charset="-122"/>
                <a:cs typeface="Calibri" pitchFamily="34" charset="-120"/>
              </a:rPr>
              <a:t>Creating a New Procedure</a:t>
            </a:r>
          </a:p>
          <a:p>
            <a:r>
              <a:rPr lang="en-US" sz="1000" dirty="0"/>
              <a:t>A procedure is a set of steps to accomplish a specific task. Procedures should be clear and concise, with no more than one action per step (unless the actions are very small and related, such as when clicking two options within the same menu).</a:t>
            </a:r>
          </a:p>
        </p:txBody>
      </p:sp>
      <p:sp>
        <p:nvSpPr>
          <p:cNvPr id="51" name="Shape 14"/>
          <p:cNvSpPr/>
          <p:nvPr/>
        </p:nvSpPr>
        <p:spPr>
          <a:xfrm>
            <a:off x="4056990" y="2539229"/>
            <a:ext cx="182880" cy="197059"/>
          </a:xfrm>
          <a:prstGeom prst="ellipse">
            <a:avLst/>
          </a:prstGeom>
          <a:solidFill>
            <a:srgbClr val="0B6E63"/>
          </a:solidFill>
          <a:ln/>
        </p:spPr>
        <p:txBody>
          <a:bodyPr/>
          <a:lstStyle/>
          <a:p>
            <a:endParaRPr lang="en-US"/>
          </a:p>
        </p:txBody>
      </p:sp>
      <p:sp>
        <p:nvSpPr>
          <p:cNvPr id="52" name="Text 15"/>
          <p:cNvSpPr/>
          <p:nvPr/>
        </p:nvSpPr>
        <p:spPr>
          <a:xfrm>
            <a:off x="4056990" y="2539229"/>
            <a:ext cx="182880" cy="197059"/>
          </a:xfrm>
          <a:prstGeom prst="rect">
            <a:avLst/>
          </a:prstGeom>
          <a:noFill/>
          <a:ln/>
        </p:spPr>
        <p:txBody>
          <a:bodyPr wrap="square" lIns="0" tIns="0" rIns="0" bIns="0" rtlCol="0" anchor="ctr"/>
          <a:lstStyle/>
          <a:p>
            <a:pPr marL="0" indent="0" algn="ctr">
              <a:buNone/>
            </a:pPr>
            <a:r>
              <a:rPr lang="en-US" sz="800" b="1" dirty="0">
                <a:solidFill>
                  <a:srgbClr val="F4FBFA"/>
                </a:solidFill>
                <a:latin typeface="Consolas" pitchFamily="34" charset="0"/>
                <a:ea typeface="Consolas" pitchFamily="34" charset="-122"/>
                <a:cs typeface="Consolas" pitchFamily="34" charset="-120"/>
              </a:rPr>
              <a:t>1</a:t>
            </a:r>
            <a:endParaRPr lang="en-US" sz="800" dirty="0"/>
          </a:p>
        </p:txBody>
      </p:sp>
      <p:sp>
        <p:nvSpPr>
          <p:cNvPr id="53" name="Text 16"/>
          <p:cNvSpPr/>
          <p:nvPr/>
        </p:nvSpPr>
        <p:spPr>
          <a:xfrm>
            <a:off x="4349598" y="2519523"/>
            <a:ext cx="4224528" cy="315294"/>
          </a:xfrm>
          <a:prstGeom prst="rect">
            <a:avLst/>
          </a:prstGeom>
          <a:noFill/>
          <a:ln/>
        </p:spPr>
        <p:txBody>
          <a:bodyPr wrap="square" lIns="0" tIns="0" rIns="0" bIns="0" rtlCol="0" anchor="t"/>
          <a:lstStyle/>
          <a:p>
            <a:pPr marL="0" indent="0">
              <a:buNone/>
            </a:pPr>
            <a:r>
              <a:rPr lang="en-US" sz="950" dirty="0">
                <a:solidFill>
                  <a:srgbClr val="12181A"/>
                </a:solidFill>
                <a:latin typeface="Calibri" pitchFamily="34" charset="0"/>
                <a:ea typeface="Calibri" pitchFamily="34" charset="-122"/>
                <a:cs typeface="Calibri" pitchFamily="34" charset="-120"/>
              </a:rPr>
              <a:t>Log in to Procedure Composer.</a:t>
            </a:r>
            <a:endParaRPr lang="en-US" sz="950" dirty="0"/>
          </a:p>
        </p:txBody>
      </p:sp>
      <p:sp>
        <p:nvSpPr>
          <p:cNvPr id="54" name="Shape 17"/>
          <p:cNvSpPr/>
          <p:nvPr/>
        </p:nvSpPr>
        <p:spPr>
          <a:xfrm>
            <a:off x="4056990" y="2854523"/>
            <a:ext cx="182880" cy="197059"/>
          </a:xfrm>
          <a:prstGeom prst="ellipse">
            <a:avLst/>
          </a:prstGeom>
          <a:solidFill>
            <a:srgbClr val="0B6E63"/>
          </a:solidFill>
          <a:ln/>
        </p:spPr>
        <p:txBody>
          <a:bodyPr/>
          <a:lstStyle/>
          <a:p>
            <a:endParaRPr lang="en-US"/>
          </a:p>
        </p:txBody>
      </p:sp>
      <p:sp>
        <p:nvSpPr>
          <p:cNvPr id="55" name="Text 18"/>
          <p:cNvSpPr/>
          <p:nvPr/>
        </p:nvSpPr>
        <p:spPr>
          <a:xfrm>
            <a:off x="4056990" y="2854523"/>
            <a:ext cx="182880" cy="197059"/>
          </a:xfrm>
          <a:prstGeom prst="rect">
            <a:avLst/>
          </a:prstGeom>
          <a:noFill/>
          <a:ln/>
        </p:spPr>
        <p:txBody>
          <a:bodyPr wrap="square" lIns="0" tIns="0" rIns="0" bIns="0" rtlCol="0" anchor="ctr"/>
          <a:lstStyle/>
          <a:p>
            <a:pPr marL="0" indent="0" algn="ctr">
              <a:buNone/>
            </a:pPr>
            <a:r>
              <a:rPr lang="en-US" sz="800" b="1" dirty="0">
                <a:solidFill>
                  <a:srgbClr val="F4FBFA"/>
                </a:solidFill>
                <a:latin typeface="Consolas" pitchFamily="34" charset="0"/>
                <a:ea typeface="Consolas" pitchFamily="34" charset="-122"/>
                <a:cs typeface="Consolas" pitchFamily="34" charset="-120"/>
              </a:rPr>
              <a:t>2</a:t>
            </a:r>
            <a:endParaRPr lang="en-US" sz="800" dirty="0"/>
          </a:p>
        </p:txBody>
      </p:sp>
      <p:sp>
        <p:nvSpPr>
          <p:cNvPr id="56" name="Text 19"/>
          <p:cNvSpPr/>
          <p:nvPr/>
        </p:nvSpPr>
        <p:spPr>
          <a:xfrm>
            <a:off x="4349598" y="2834817"/>
            <a:ext cx="4224528" cy="315294"/>
          </a:xfrm>
          <a:prstGeom prst="rect">
            <a:avLst/>
          </a:prstGeom>
          <a:noFill/>
          <a:ln/>
        </p:spPr>
        <p:txBody>
          <a:bodyPr wrap="square" lIns="0" tIns="0" rIns="0" bIns="0" rtlCol="0" anchor="t"/>
          <a:lstStyle/>
          <a:p>
            <a:pPr marL="0" indent="0">
              <a:buNone/>
            </a:pPr>
            <a:r>
              <a:rPr lang="en-US" sz="950" dirty="0">
                <a:solidFill>
                  <a:srgbClr val="12181A"/>
                </a:solidFill>
                <a:latin typeface="Calibri" pitchFamily="34" charset="0"/>
                <a:ea typeface="Calibri" pitchFamily="34" charset="-122"/>
                <a:cs typeface="Calibri" pitchFamily="34" charset="-120"/>
              </a:rPr>
              <a:t>Click </a:t>
            </a:r>
            <a:r>
              <a:rPr lang="en-US" sz="950" b="1" dirty="0">
                <a:solidFill>
                  <a:srgbClr val="12181A"/>
                </a:solidFill>
                <a:latin typeface="Calibri" pitchFamily="34" charset="0"/>
                <a:ea typeface="Calibri" pitchFamily="34" charset="-122"/>
                <a:cs typeface="Calibri" pitchFamily="34" charset="-120"/>
              </a:rPr>
              <a:t>New Procedure</a:t>
            </a:r>
            <a:r>
              <a:rPr lang="en-US" sz="950" dirty="0">
                <a:solidFill>
                  <a:srgbClr val="12181A"/>
                </a:solidFill>
                <a:latin typeface="Calibri" pitchFamily="34" charset="0"/>
                <a:ea typeface="Calibri" pitchFamily="34" charset="-122"/>
                <a:cs typeface="Calibri" pitchFamily="34" charset="-120"/>
              </a:rPr>
              <a:t>.</a:t>
            </a:r>
            <a:endParaRPr lang="en-US" sz="950" dirty="0"/>
          </a:p>
        </p:txBody>
      </p:sp>
      <p:sp>
        <p:nvSpPr>
          <p:cNvPr id="57" name="Shape 20"/>
          <p:cNvSpPr/>
          <p:nvPr/>
        </p:nvSpPr>
        <p:spPr>
          <a:xfrm>
            <a:off x="4056990" y="3169817"/>
            <a:ext cx="182880" cy="197059"/>
          </a:xfrm>
          <a:prstGeom prst="ellipse">
            <a:avLst/>
          </a:prstGeom>
          <a:solidFill>
            <a:srgbClr val="0B6E63"/>
          </a:solidFill>
          <a:ln/>
        </p:spPr>
        <p:txBody>
          <a:bodyPr/>
          <a:lstStyle/>
          <a:p>
            <a:endParaRPr lang="en-US"/>
          </a:p>
        </p:txBody>
      </p:sp>
      <p:sp>
        <p:nvSpPr>
          <p:cNvPr id="58" name="Text 21"/>
          <p:cNvSpPr/>
          <p:nvPr/>
        </p:nvSpPr>
        <p:spPr>
          <a:xfrm>
            <a:off x="4056990" y="3169817"/>
            <a:ext cx="182880" cy="197059"/>
          </a:xfrm>
          <a:prstGeom prst="rect">
            <a:avLst/>
          </a:prstGeom>
          <a:noFill/>
          <a:ln/>
        </p:spPr>
        <p:txBody>
          <a:bodyPr wrap="square" lIns="0" tIns="0" rIns="0" bIns="0" rtlCol="0" anchor="ctr"/>
          <a:lstStyle/>
          <a:p>
            <a:pPr marL="0" indent="0" algn="ctr">
              <a:buNone/>
            </a:pPr>
            <a:r>
              <a:rPr lang="en-US" sz="800" b="1" dirty="0">
                <a:solidFill>
                  <a:srgbClr val="F4FBFA"/>
                </a:solidFill>
                <a:latin typeface="Consolas" pitchFamily="34" charset="0"/>
                <a:ea typeface="Consolas" pitchFamily="34" charset="-122"/>
                <a:cs typeface="Consolas" pitchFamily="34" charset="-120"/>
              </a:rPr>
              <a:t>3</a:t>
            </a:r>
            <a:endParaRPr lang="en-US" sz="800" dirty="0"/>
          </a:p>
        </p:txBody>
      </p:sp>
      <p:sp>
        <p:nvSpPr>
          <p:cNvPr id="59" name="Text 22"/>
          <p:cNvSpPr/>
          <p:nvPr/>
        </p:nvSpPr>
        <p:spPr>
          <a:xfrm>
            <a:off x="4349598" y="3150111"/>
            <a:ext cx="4224528" cy="315294"/>
          </a:xfrm>
          <a:prstGeom prst="rect">
            <a:avLst/>
          </a:prstGeom>
          <a:noFill/>
          <a:ln/>
        </p:spPr>
        <p:txBody>
          <a:bodyPr wrap="square" lIns="0" tIns="0" rIns="0" bIns="0" rtlCol="0" anchor="t"/>
          <a:lstStyle/>
          <a:p>
            <a:pPr marL="0" indent="0">
              <a:buNone/>
            </a:pPr>
            <a:r>
              <a:rPr lang="en-US" sz="950" dirty="0">
                <a:solidFill>
                  <a:srgbClr val="12181A"/>
                </a:solidFill>
                <a:latin typeface="Calibri" pitchFamily="34" charset="0"/>
                <a:ea typeface="Calibri" pitchFamily="34" charset="-122"/>
                <a:cs typeface="Calibri" pitchFamily="34" charset="-120"/>
              </a:rPr>
              <a:t>In the </a:t>
            </a:r>
            <a:r>
              <a:rPr lang="en-US" sz="950" b="1" dirty="0">
                <a:solidFill>
                  <a:srgbClr val="12181A"/>
                </a:solidFill>
                <a:latin typeface="Calibri" pitchFamily="34" charset="0"/>
                <a:ea typeface="Calibri" pitchFamily="34" charset="-122"/>
                <a:cs typeface="Calibri" pitchFamily="34" charset="-120"/>
              </a:rPr>
              <a:t>Title</a:t>
            </a:r>
            <a:r>
              <a:rPr lang="en-US" sz="950" dirty="0">
                <a:solidFill>
                  <a:srgbClr val="12181A"/>
                </a:solidFill>
                <a:latin typeface="Calibri" pitchFamily="34" charset="0"/>
                <a:ea typeface="Calibri" pitchFamily="34" charset="-122"/>
                <a:cs typeface="Calibri" pitchFamily="34" charset="-120"/>
              </a:rPr>
              <a:t> field, enter a title for the procedure.</a:t>
            </a:r>
            <a:endParaRPr lang="en-US" sz="950" dirty="0"/>
          </a:p>
        </p:txBody>
      </p:sp>
      <p:sp>
        <p:nvSpPr>
          <p:cNvPr id="60" name="Shape 23"/>
          <p:cNvSpPr/>
          <p:nvPr/>
        </p:nvSpPr>
        <p:spPr>
          <a:xfrm>
            <a:off x="4056990" y="4037199"/>
            <a:ext cx="182880" cy="197059"/>
          </a:xfrm>
          <a:prstGeom prst="ellipse">
            <a:avLst/>
          </a:prstGeom>
          <a:solidFill>
            <a:srgbClr val="0B6E63"/>
          </a:solidFill>
          <a:ln/>
        </p:spPr>
        <p:txBody>
          <a:bodyPr/>
          <a:lstStyle/>
          <a:p>
            <a:endParaRPr lang="en-US"/>
          </a:p>
        </p:txBody>
      </p:sp>
      <p:sp>
        <p:nvSpPr>
          <p:cNvPr id="61" name="Text 24"/>
          <p:cNvSpPr/>
          <p:nvPr/>
        </p:nvSpPr>
        <p:spPr>
          <a:xfrm>
            <a:off x="4056990" y="4037199"/>
            <a:ext cx="182880" cy="197059"/>
          </a:xfrm>
          <a:prstGeom prst="rect">
            <a:avLst/>
          </a:prstGeom>
          <a:noFill/>
          <a:ln/>
        </p:spPr>
        <p:txBody>
          <a:bodyPr wrap="square" lIns="0" tIns="0" rIns="0" bIns="0" rtlCol="0" anchor="ctr"/>
          <a:lstStyle/>
          <a:p>
            <a:pPr marL="0" indent="0" algn="ctr">
              <a:buNone/>
            </a:pPr>
            <a:r>
              <a:rPr lang="en-US" sz="800" b="1" dirty="0">
                <a:solidFill>
                  <a:srgbClr val="F4FBFA"/>
                </a:solidFill>
                <a:latin typeface="Consolas" pitchFamily="34" charset="0"/>
                <a:ea typeface="Consolas" pitchFamily="34" charset="-122"/>
                <a:cs typeface="Consolas" pitchFamily="34" charset="-120"/>
              </a:rPr>
              <a:t>4</a:t>
            </a:r>
            <a:endParaRPr lang="en-US" sz="800" dirty="0"/>
          </a:p>
        </p:txBody>
      </p:sp>
      <p:sp>
        <p:nvSpPr>
          <p:cNvPr id="62" name="Text 25"/>
          <p:cNvSpPr/>
          <p:nvPr/>
        </p:nvSpPr>
        <p:spPr>
          <a:xfrm>
            <a:off x="4349598" y="4017493"/>
            <a:ext cx="4224528" cy="315294"/>
          </a:xfrm>
          <a:prstGeom prst="rect">
            <a:avLst/>
          </a:prstGeom>
          <a:noFill/>
          <a:ln/>
        </p:spPr>
        <p:txBody>
          <a:bodyPr wrap="square" lIns="0" tIns="0" rIns="0" bIns="0" rtlCol="0" anchor="t"/>
          <a:lstStyle/>
          <a:p>
            <a:pPr marL="0" indent="0">
              <a:buNone/>
            </a:pPr>
            <a:r>
              <a:rPr lang="en-US" sz="950" i="1" dirty="0">
                <a:solidFill>
                  <a:srgbClr val="12181A"/>
                </a:solidFill>
                <a:latin typeface="Calibri" pitchFamily="34" charset="0"/>
                <a:ea typeface="Calibri" pitchFamily="34" charset="-122"/>
                <a:cs typeface="Calibri" pitchFamily="34" charset="-120"/>
              </a:rPr>
              <a:t>Optional</a:t>
            </a:r>
            <a:r>
              <a:rPr lang="en-US" sz="950" dirty="0">
                <a:solidFill>
                  <a:srgbClr val="12181A"/>
                </a:solidFill>
                <a:latin typeface="Calibri" pitchFamily="34" charset="0"/>
                <a:ea typeface="Calibri" pitchFamily="34" charset="-122"/>
                <a:cs typeface="Calibri" pitchFamily="34" charset="-120"/>
              </a:rPr>
              <a:t>. In the </a:t>
            </a:r>
            <a:r>
              <a:rPr lang="en-US" sz="950" b="1" dirty="0">
                <a:solidFill>
                  <a:srgbClr val="12181A"/>
                </a:solidFill>
                <a:latin typeface="Calibri" pitchFamily="34" charset="0"/>
                <a:ea typeface="Calibri" pitchFamily="34" charset="-122"/>
                <a:cs typeface="Calibri" pitchFamily="34" charset="-120"/>
              </a:rPr>
              <a:t>Labels</a:t>
            </a:r>
            <a:r>
              <a:rPr lang="en-US" sz="950" dirty="0">
                <a:solidFill>
                  <a:srgbClr val="12181A"/>
                </a:solidFill>
                <a:latin typeface="Calibri" pitchFamily="34" charset="0"/>
                <a:ea typeface="Calibri" pitchFamily="34" charset="-122"/>
                <a:cs typeface="Calibri" pitchFamily="34" charset="-120"/>
              </a:rPr>
              <a:t> field, add any labels that apply.</a:t>
            </a:r>
            <a:endParaRPr lang="en-US" sz="950" dirty="0"/>
          </a:p>
        </p:txBody>
      </p:sp>
      <p:sp>
        <p:nvSpPr>
          <p:cNvPr id="63" name="Shape 26"/>
          <p:cNvSpPr/>
          <p:nvPr/>
        </p:nvSpPr>
        <p:spPr>
          <a:xfrm>
            <a:off x="4056990" y="4352493"/>
            <a:ext cx="182880" cy="197059"/>
          </a:xfrm>
          <a:prstGeom prst="ellipse">
            <a:avLst/>
          </a:prstGeom>
          <a:solidFill>
            <a:srgbClr val="0B6E63"/>
          </a:solidFill>
          <a:ln/>
        </p:spPr>
        <p:txBody>
          <a:bodyPr/>
          <a:lstStyle/>
          <a:p>
            <a:endParaRPr lang="en-US"/>
          </a:p>
        </p:txBody>
      </p:sp>
      <p:sp>
        <p:nvSpPr>
          <p:cNvPr id="64" name="Text 27"/>
          <p:cNvSpPr/>
          <p:nvPr/>
        </p:nvSpPr>
        <p:spPr>
          <a:xfrm>
            <a:off x="4056990" y="4352493"/>
            <a:ext cx="182880" cy="197059"/>
          </a:xfrm>
          <a:prstGeom prst="rect">
            <a:avLst/>
          </a:prstGeom>
          <a:noFill/>
          <a:ln/>
        </p:spPr>
        <p:txBody>
          <a:bodyPr wrap="square" lIns="0" tIns="0" rIns="0" bIns="0" rtlCol="0" anchor="ctr"/>
          <a:lstStyle/>
          <a:p>
            <a:pPr marL="0" indent="0" algn="ctr">
              <a:buNone/>
            </a:pPr>
            <a:r>
              <a:rPr lang="en-US" sz="800" b="1" dirty="0">
                <a:solidFill>
                  <a:srgbClr val="F4FBFA"/>
                </a:solidFill>
                <a:latin typeface="Consolas" pitchFamily="34" charset="0"/>
                <a:ea typeface="Consolas" pitchFamily="34" charset="-122"/>
                <a:cs typeface="Consolas" pitchFamily="34" charset="-120"/>
              </a:rPr>
              <a:t>5</a:t>
            </a:r>
            <a:endParaRPr lang="en-US" sz="800" dirty="0"/>
          </a:p>
        </p:txBody>
      </p:sp>
      <p:sp>
        <p:nvSpPr>
          <p:cNvPr id="65" name="Text 28"/>
          <p:cNvSpPr/>
          <p:nvPr/>
        </p:nvSpPr>
        <p:spPr>
          <a:xfrm>
            <a:off x="4349598" y="4332787"/>
            <a:ext cx="4224528" cy="315294"/>
          </a:xfrm>
          <a:prstGeom prst="rect">
            <a:avLst/>
          </a:prstGeom>
          <a:noFill/>
          <a:ln/>
        </p:spPr>
        <p:txBody>
          <a:bodyPr wrap="square" lIns="0" tIns="0" rIns="0" bIns="0" rtlCol="0" anchor="t"/>
          <a:lstStyle/>
          <a:p>
            <a:pPr marL="0" indent="0">
              <a:buNone/>
            </a:pPr>
            <a:r>
              <a:rPr lang="en-US" sz="950" dirty="0">
                <a:solidFill>
                  <a:srgbClr val="12181A"/>
                </a:solidFill>
                <a:latin typeface="Calibri" pitchFamily="34" charset="0"/>
                <a:ea typeface="Calibri" pitchFamily="34" charset="-122"/>
                <a:cs typeface="Calibri" pitchFamily="34" charset="-120"/>
              </a:rPr>
              <a:t>Click </a:t>
            </a:r>
            <a:r>
              <a:rPr lang="en-US" sz="950" b="1" dirty="0">
                <a:solidFill>
                  <a:srgbClr val="12181A"/>
                </a:solidFill>
                <a:latin typeface="Calibri" pitchFamily="34" charset="0"/>
                <a:ea typeface="Calibri" pitchFamily="34" charset="-122"/>
                <a:cs typeface="Calibri" pitchFamily="34" charset="-120"/>
              </a:rPr>
              <a:t>Save</a:t>
            </a:r>
            <a:r>
              <a:rPr lang="en-US" sz="950" dirty="0">
                <a:solidFill>
                  <a:srgbClr val="12181A"/>
                </a:solidFill>
                <a:latin typeface="Calibri" pitchFamily="34" charset="0"/>
                <a:ea typeface="Calibri" pitchFamily="34" charset="-122"/>
                <a:cs typeface="Calibri" pitchFamily="34" charset="-120"/>
              </a:rPr>
              <a:t>.</a:t>
            </a:r>
            <a:endParaRPr lang="en-US" sz="950" dirty="0"/>
          </a:p>
        </p:txBody>
      </p:sp>
      <p:sp>
        <p:nvSpPr>
          <p:cNvPr id="66" name="Shape 29"/>
          <p:cNvSpPr/>
          <p:nvPr/>
        </p:nvSpPr>
        <p:spPr>
          <a:xfrm>
            <a:off x="4349598" y="3420033"/>
            <a:ext cx="4168502" cy="492647"/>
          </a:xfrm>
          <a:prstGeom prst="roundRect">
            <a:avLst>
              <a:gd name="adj" fmla="val 10000"/>
            </a:avLst>
          </a:prstGeom>
          <a:solidFill>
            <a:srgbClr val="F3E3D0"/>
          </a:solidFill>
          <a:ln/>
        </p:spPr>
        <p:txBody>
          <a:bodyPr/>
          <a:lstStyle/>
          <a:p>
            <a:endParaRPr lang="en-US"/>
          </a:p>
        </p:txBody>
      </p:sp>
      <p:sp>
        <p:nvSpPr>
          <p:cNvPr id="67" name="Text 30"/>
          <p:cNvSpPr/>
          <p:nvPr/>
        </p:nvSpPr>
        <p:spPr>
          <a:xfrm>
            <a:off x="4459326" y="3420033"/>
            <a:ext cx="3965984" cy="492647"/>
          </a:xfrm>
          <a:prstGeom prst="rect">
            <a:avLst/>
          </a:prstGeom>
          <a:noFill/>
          <a:ln/>
        </p:spPr>
        <p:txBody>
          <a:bodyPr wrap="square" lIns="0" tIns="0" rIns="0" bIns="0" rtlCol="0" anchor="ctr"/>
          <a:lstStyle/>
          <a:p>
            <a:pPr marL="0" indent="0">
              <a:buNone/>
            </a:pPr>
            <a:r>
              <a:rPr lang="en-US" sz="850" b="1" i="1" dirty="0">
                <a:solidFill>
                  <a:srgbClr val="A9631E"/>
                </a:solidFill>
                <a:latin typeface="Calibri" pitchFamily="34" charset="0"/>
                <a:ea typeface="Calibri" pitchFamily="34" charset="-122"/>
                <a:cs typeface="Calibri" pitchFamily="34" charset="-120"/>
              </a:rPr>
              <a:t>Note</a:t>
            </a:r>
            <a:r>
              <a:rPr lang="en-US" sz="850" i="1" dirty="0">
                <a:solidFill>
                  <a:srgbClr val="A9631E"/>
                </a:solidFill>
                <a:latin typeface="Calibri" pitchFamily="34" charset="0"/>
                <a:ea typeface="Calibri" pitchFamily="34" charset="-122"/>
                <a:cs typeface="Calibri" pitchFamily="34" charset="-120"/>
              </a:rPr>
              <a:t>: Make sure your title begins with a gerund or infinitive verb.</a:t>
            </a:r>
            <a:endParaRPr lang="en-US" sz="850" dirty="0"/>
          </a:p>
        </p:txBody>
      </p:sp>
      <p:sp>
        <p:nvSpPr>
          <p:cNvPr id="69" name="Text 16">
            <a:extLst>
              <a:ext uri="{FF2B5EF4-FFF2-40B4-BE49-F238E27FC236}">
                <a16:creationId xmlns:a16="http://schemas.microsoft.com/office/drawing/2014/main" id="{4B9F1BDC-4E11-45AE-F303-14E1AF37CB8F}"/>
              </a:ext>
            </a:extLst>
          </p:cNvPr>
          <p:cNvSpPr/>
          <p:nvPr/>
        </p:nvSpPr>
        <p:spPr>
          <a:xfrm>
            <a:off x="4013860" y="2290643"/>
            <a:ext cx="4224528" cy="206964"/>
          </a:xfrm>
          <a:prstGeom prst="rect">
            <a:avLst/>
          </a:prstGeom>
          <a:noFill/>
          <a:ln/>
        </p:spPr>
        <p:txBody>
          <a:bodyPr wrap="square" lIns="0" tIns="0" rIns="0" bIns="0" rtlCol="0" anchor="t"/>
          <a:lstStyle/>
          <a:p>
            <a:pPr marL="0" indent="0">
              <a:buNone/>
            </a:pPr>
            <a:r>
              <a:rPr lang="en-US" sz="950" b="1" dirty="0">
                <a:solidFill>
                  <a:srgbClr val="12181A"/>
                </a:solidFill>
                <a:latin typeface="Calibri" pitchFamily="34" charset="0"/>
                <a:ea typeface="Calibri" pitchFamily="34" charset="-122"/>
                <a:cs typeface="Calibri" pitchFamily="34" charset="-120"/>
              </a:rPr>
              <a:t>To create a new procedure:</a:t>
            </a:r>
            <a:endParaRPr lang="en-US" sz="950" b="1" dirty="0"/>
          </a:p>
        </p:txBody>
      </p:sp>
      <p:sp>
        <p:nvSpPr>
          <p:cNvPr id="71" name="Text 16">
            <a:extLst>
              <a:ext uri="{FF2B5EF4-FFF2-40B4-BE49-F238E27FC236}">
                <a16:creationId xmlns:a16="http://schemas.microsoft.com/office/drawing/2014/main" id="{46C12CD2-BF6F-84F3-4499-4FC15931CF34}"/>
              </a:ext>
            </a:extLst>
          </p:cNvPr>
          <p:cNvSpPr/>
          <p:nvPr/>
        </p:nvSpPr>
        <p:spPr>
          <a:xfrm>
            <a:off x="4013860" y="4629383"/>
            <a:ext cx="3611512" cy="206964"/>
          </a:xfrm>
          <a:prstGeom prst="rect">
            <a:avLst/>
          </a:prstGeom>
          <a:noFill/>
          <a:ln/>
        </p:spPr>
        <p:txBody>
          <a:bodyPr wrap="square" lIns="0" tIns="0" rIns="0" bIns="0" rtlCol="0" anchor="t"/>
          <a:lstStyle/>
          <a:p>
            <a:pPr marL="0" indent="0">
              <a:buNone/>
            </a:pPr>
            <a:r>
              <a:rPr lang="en-US" sz="950" u="sng" dirty="0">
                <a:solidFill>
                  <a:srgbClr val="0070C0"/>
                </a:solidFill>
                <a:latin typeface="Calibri" pitchFamily="34" charset="0"/>
                <a:ea typeface="Calibri" pitchFamily="34" charset="-122"/>
                <a:cs typeface="Calibri" pitchFamily="34" charset="-120"/>
              </a:rPr>
              <a:t>Back to Top</a:t>
            </a:r>
            <a:endParaRPr lang="en-US" sz="950" u="sng" dirty="0">
              <a:solidFill>
                <a:srgbClr val="0070C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6</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BEST PRACTICES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Task headings</a:t>
            </a:r>
            <a:endParaRPr lang="en-US" sz="2600" dirty="0"/>
          </a:p>
        </p:txBody>
      </p:sp>
      <p:sp>
        <p:nvSpPr>
          <p:cNvPr id="6" name="Shape 4"/>
          <p:cNvSpPr/>
          <p:nvPr/>
        </p:nvSpPr>
        <p:spPr>
          <a:xfrm>
            <a:off x="457200" y="1417320"/>
            <a:ext cx="3977640" cy="3223260"/>
          </a:xfrm>
          <a:prstGeom prst="roundRect">
            <a:avLst>
              <a:gd name="adj" fmla="val 2837"/>
            </a:avLst>
          </a:prstGeom>
          <a:solidFill>
            <a:srgbClr val="EAEFED"/>
          </a:solidFill>
          <a:ln/>
          <a:effectLst>
            <a:outerShdw blurRad="76200" dist="25400" dir="5400000" algn="bl" rotWithShape="0">
              <a:srgbClr val="12181A">
                <a:alpha val="18000"/>
              </a:srgbClr>
            </a:outerShdw>
          </a:effectLst>
        </p:spPr>
        <p:txBody>
          <a:bodyPr/>
          <a:lstStyle/>
          <a:p>
            <a:endParaRPr lang="en-US"/>
          </a:p>
        </p:txBody>
      </p:sp>
      <p:sp>
        <p:nvSpPr>
          <p:cNvPr id="7" name="Shape 5"/>
          <p:cNvSpPr/>
          <p:nvPr/>
        </p:nvSpPr>
        <p:spPr>
          <a:xfrm>
            <a:off x="713232" y="1655064"/>
            <a:ext cx="146304" cy="146304"/>
          </a:xfrm>
          <a:prstGeom prst="ellipse">
            <a:avLst/>
          </a:prstGeom>
          <a:solidFill>
            <a:srgbClr val="0B6E63"/>
          </a:solidFill>
          <a:ln/>
        </p:spPr>
        <p:txBody>
          <a:bodyPr/>
          <a:lstStyle/>
          <a:p>
            <a:endParaRPr lang="en-US"/>
          </a:p>
        </p:txBody>
      </p:sp>
      <p:sp>
        <p:nvSpPr>
          <p:cNvPr id="8" name="Text 6"/>
          <p:cNvSpPr/>
          <p:nvPr/>
        </p:nvSpPr>
        <p:spPr>
          <a:xfrm>
            <a:off x="914400" y="1581912"/>
            <a:ext cx="3337560" cy="292608"/>
          </a:xfrm>
          <a:prstGeom prst="rect">
            <a:avLst/>
          </a:prstGeom>
          <a:noFill/>
          <a:ln/>
        </p:spPr>
        <p:txBody>
          <a:bodyPr wrap="square" lIns="0" tIns="0" rIns="0" bIns="0" rtlCol="0" anchor="ctr"/>
          <a:lstStyle/>
          <a:p>
            <a:pPr marL="0" indent="0">
              <a:buNone/>
            </a:pPr>
            <a:r>
              <a:rPr lang="en-US" sz="1400" b="1" dirty="0">
                <a:solidFill>
                  <a:srgbClr val="0B6E63"/>
                </a:solidFill>
                <a:latin typeface="Calibri" pitchFamily="34" charset="0"/>
                <a:ea typeface="Calibri" pitchFamily="34" charset="-122"/>
                <a:cs typeface="Calibri" pitchFamily="34" charset="-120"/>
              </a:rPr>
              <a:t>Do</a:t>
            </a:r>
            <a:endParaRPr lang="en-US" sz="1400" dirty="0"/>
          </a:p>
        </p:txBody>
      </p:sp>
      <p:sp>
        <p:nvSpPr>
          <p:cNvPr id="9" name="Text 7"/>
          <p:cNvSpPr/>
          <p:nvPr/>
        </p:nvSpPr>
        <p:spPr>
          <a:xfrm>
            <a:off x="71323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Start with a gerund or infinitive verb form.</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title case or sentence case (defer to your style guide).</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Keep headings as short as possible to keep your mini table of contents clean.</a:t>
            </a:r>
            <a:endParaRPr lang="en-US" sz="1250" dirty="0"/>
          </a:p>
        </p:txBody>
      </p:sp>
      <p:sp>
        <p:nvSpPr>
          <p:cNvPr id="10" name="Shape 8"/>
          <p:cNvSpPr/>
          <p:nvPr/>
        </p:nvSpPr>
        <p:spPr>
          <a:xfrm>
            <a:off x="4709160" y="1417320"/>
            <a:ext cx="3977640" cy="3223260"/>
          </a:xfrm>
          <a:prstGeom prst="roundRect">
            <a:avLst>
              <a:gd name="adj" fmla="val 2837"/>
            </a:avLst>
          </a:prstGeom>
          <a:solidFill>
            <a:srgbClr val="F3E3D0"/>
          </a:solidFill>
          <a:ln/>
          <a:effectLst>
            <a:outerShdw blurRad="76200" dist="25400" dir="5400000" algn="bl" rotWithShape="0">
              <a:srgbClr val="12181A">
                <a:alpha val="18000"/>
              </a:srgbClr>
            </a:outerShdw>
          </a:effectLst>
        </p:spPr>
        <p:txBody>
          <a:bodyPr/>
          <a:lstStyle/>
          <a:p>
            <a:endParaRPr lang="en-US"/>
          </a:p>
        </p:txBody>
      </p:sp>
      <p:sp>
        <p:nvSpPr>
          <p:cNvPr id="11" name="Shape 9"/>
          <p:cNvSpPr/>
          <p:nvPr/>
        </p:nvSpPr>
        <p:spPr>
          <a:xfrm>
            <a:off x="4965192" y="1655064"/>
            <a:ext cx="146304" cy="146304"/>
          </a:xfrm>
          <a:prstGeom prst="ellipse">
            <a:avLst/>
          </a:prstGeom>
          <a:solidFill>
            <a:srgbClr val="A9631E"/>
          </a:solidFill>
          <a:ln/>
        </p:spPr>
        <p:txBody>
          <a:bodyPr/>
          <a:lstStyle/>
          <a:p>
            <a:endParaRPr lang="en-US"/>
          </a:p>
        </p:txBody>
      </p:sp>
      <p:sp>
        <p:nvSpPr>
          <p:cNvPr id="12" name="Text 10"/>
          <p:cNvSpPr/>
          <p:nvPr/>
        </p:nvSpPr>
        <p:spPr>
          <a:xfrm>
            <a:off x="5166360" y="1581912"/>
            <a:ext cx="3337560" cy="292608"/>
          </a:xfrm>
          <a:prstGeom prst="rect">
            <a:avLst/>
          </a:prstGeom>
          <a:noFill/>
          <a:ln/>
        </p:spPr>
        <p:txBody>
          <a:bodyPr wrap="square" lIns="0" tIns="0" rIns="0" bIns="0" rtlCol="0" anchor="ctr"/>
          <a:lstStyle/>
          <a:p>
            <a:pPr marL="0" indent="0">
              <a:buNone/>
            </a:pPr>
            <a:r>
              <a:rPr lang="en-US" sz="1400" b="1" dirty="0">
                <a:solidFill>
                  <a:srgbClr val="A9631E"/>
                </a:solidFill>
                <a:latin typeface="Calibri" pitchFamily="34" charset="0"/>
                <a:ea typeface="Calibri" pitchFamily="34" charset="-122"/>
                <a:cs typeface="Calibri" pitchFamily="34" charset="-120"/>
              </a:rPr>
              <a:t>Don't</a:t>
            </a:r>
            <a:endParaRPr lang="en-US" sz="1400" dirty="0"/>
          </a:p>
        </p:txBody>
      </p:sp>
      <p:sp>
        <p:nvSpPr>
          <p:cNvPr id="13" name="Text 11"/>
          <p:cNvSpPr/>
          <p:nvPr/>
        </p:nvSpPr>
        <p:spPr>
          <a:xfrm>
            <a:off x="496519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Start with “How to.”</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Capitalize articles or prepositions.</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Add colons to the heading.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7</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BEST PRACTICES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Introductions</a:t>
            </a:r>
            <a:endParaRPr lang="en-US" sz="2600" dirty="0"/>
          </a:p>
        </p:txBody>
      </p:sp>
      <p:sp>
        <p:nvSpPr>
          <p:cNvPr id="6" name="Shape 4"/>
          <p:cNvSpPr/>
          <p:nvPr/>
        </p:nvSpPr>
        <p:spPr>
          <a:xfrm>
            <a:off x="457200" y="1417320"/>
            <a:ext cx="3977640" cy="3223260"/>
          </a:xfrm>
          <a:prstGeom prst="roundRect">
            <a:avLst>
              <a:gd name="adj" fmla="val 2837"/>
            </a:avLst>
          </a:prstGeom>
          <a:solidFill>
            <a:srgbClr val="EAEFED"/>
          </a:solidFill>
          <a:ln/>
          <a:effectLst>
            <a:outerShdw blurRad="76200" dist="25400" dir="5400000" algn="bl" rotWithShape="0">
              <a:srgbClr val="12181A">
                <a:alpha val="18000"/>
              </a:srgbClr>
            </a:outerShdw>
          </a:effectLst>
        </p:spPr>
        <p:txBody>
          <a:bodyPr/>
          <a:lstStyle/>
          <a:p>
            <a:endParaRPr lang="en-US"/>
          </a:p>
        </p:txBody>
      </p:sp>
      <p:sp>
        <p:nvSpPr>
          <p:cNvPr id="7" name="Shape 5"/>
          <p:cNvSpPr/>
          <p:nvPr/>
        </p:nvSpPr>
        <p:spPr>
          <a:xfrm>
            <a:off x="713232" y="1655064"/>
            <a:ext cx="146304" cy="146304"/>
          </a:xfrm>
          <a:prstGeom prst="ellipse">
            <a:avLst/>
          </a:prstGeom>
          <a:solidFill>
            <a:srgbClr val="0B6E63"/>
          </a:solidFill>
          <a:ln/>
        </p:spPr>
        <p:txBody>
          <a:bodyPr/>
          <a:lstStyle/>
          <a:p>
            <a:endParaRPr lang="en-US"/>
          </a:p>
        </p:txBody>
      </p:sp>
      <p:sp>
        <p:nvSpPr>
          <p:cNvPr id="8" name="Text 6"/>
          <p:cNvSpPr/>
          <p:nvPr/>
        </p:nvSpPr>
        <p:spPr>
          <a:xfrm>
            <a:off x="914400" y="1581912"/>
            <a:ext cx="3337560" cy="292608"/>
          </a:xfrm>
          <a:prstGeom prst="rect">
            <a:avLst/>
          </a:prstGeom>
          <a:noFill/>
          <a:ln/>
        </p:spPr>
        <p:txBody>
          <a:bodyPr wrap="square" lIns="0" tIns="0" rIns="0" bIns="0" rtlCol="0" anchor="ctr"/>
          <a:lstStyle/>
          <a:p>
            <a:pPr marL="0" indent="0">
              <a:buNone/>
            </a:pPr>
            <a:r>
              <a:rPr lang="en-US" sz="1400" b="1" dirty="0">
                <a:solidFill>
                  <a:srgbClr val="0B6E63"/>
                </a:solidFill>
                <a:latin typeface="Calibri" pitchFamily="34" charset="0"/>
                <a:ea typeface="Calibri" pitchFamily="34" charset="-122"/>
                <a:cs typeface="Calibri" pitchFamily="34" charset="-120"/>
              </a:rPr>
              <a:t>Do</a:t>
            </a:r>
            <a:endParaRPr lang="en-US" sz="1400" dirty="0"/>
          </a:p>
        </p:txBody>
      </p:sp>
      <p:sp>
        <p:nvSpPr>
          <p:cNvPr id="9" name="Text 7"/>
          <p:cNvSpPr/>
          <p:nvPr/>
        </p:nvSpPr>
        <p:spPr>
          <a:xfrm>
            <a:off x="71323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Provide necessary context — define new or obscure terms.</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Spell out acronyms the first time they're used.</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Explain why the procedure is required or beneficial, or give an example of its purpose.</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Core principle: new hires need it, and every page is page one.</a:t>
            </a:r>
            <a:endParaRPr lang="en-US" sz="1250" dirty="0"/>
          </a:p>
        </p:txBody>
      </p:sp>
      <p:sp>
        <p:nvSpPr>
          <p:cNvPr id="10" name="Shape 8"/>
          <p:cNvSpPr/>
          <p:nvPr/>
        </p:nvSpPr>
        <p:spPr>
          <a:xfrm>
            <a:off x="4709160" y="1417320"/>
            <a:ext cx="3977640" cy="3223260"/>
          </a:xfrm>
          <a:prstGeom prst="roundRect">
            <a:avLst>
              <a:gd name="adj" fmla="val 2837"/>
            </a:avLst>
          </a:prstGeom>
          <a:solidFill>
            <a:srgbClr val="F3E3D0"/>
          </a:solidFill>
          <a:ln/>
          <a:effectLst>
            <a:outerShdw blurRad="76200" dist="25400" dir="5400000" algn="bl" rotWithShape="0">
              <a:srgbClr val="12181A">
                <a:alpha val="18000"/>
              </a:srgbClr>
            </a:outerShdw>
          </a:effectLst>
        </p:spPr>
        <p:txBody>
          <a:bodyPr/>
          <a:lstStyle/>
          <a:p>
            <a:endParaRPr lang="en-US"/>
          </a:p>
        </p:txBody>
      </p:sp>
      <p:sp>
        <p:nvSpPr>
          <p:cNvPr id="11" name="Shape 9"/>
          <p:cNvSpPr/>
          <p:nvPr/>
        </p:nvSpPr>
        <p:spPr>
          <a:xfrm>
            <a:off x="4965192" y="1655064"/>
            <a:ext cx="146304" cy="146304"/>
          </a:xfrm>
          <a:prstGeom prst="ellipse">
            <a:avLst/>
          </a:prstGeom>
          <a:solidFill>
            <a:srgbClr val="A9631E"/>
          </a:solidFill>
          <a:ln/>
        </p:spPr>
        <p:txBody>
          <a:bodyPr/>
          <a:lstStyle/>
          <a:p>
            <a:endParaRPr lang="en-US"/>
          </a:p>
        </p:txBody>
      </p:sp>
      <p:sp>
        <p:nvSpPr>
          <p:cNvPr id="12" name="Text 10"/>
          <p:cNvSpPr/>
          <p:nvPr/>
        </p:nvSpPr>
        <p:spPr>
          <a:xfrm>
            <a:off x="5166360" y="1581912"/>
            <a:ext cx="3337560" cy="292608"/>
          </a:xfrm>
          <a:prstGeom prst="rect">
            <a:avLst/>
          </a:prstGeom>
          <a:noFill/>
          <a:ln/>
        </p:spPr>
        <p:txBody>
          <a:bodyPr wrap="square" lIns="0" tIns="0" rIns="0" bIns="0" rtlCol="0" anchor="ctr"/>
          <a:lstStyle/>
          <a:p>
            <a:pPr marL="0" indent="0">
              <a:buNone/>
            </a:pPr>
            <a:r>
              <a:rPr lang="en-US" sz="1400" b="1" dirty="0">
                <a:solidFill>
                  <a:srgbClr val="A9631E"/>
                </a:solidFill>
                <a:latin typeface="Calibri" pitchFamily="34" charset="0"/>
                <a:ea typeface="Calibri" pitchFamily="34" charset="-122"/>
                <a:cs typeface="Calibri" pitchFamily="34" charset="-120"/>
              </a:rPr>
              <a:t>Don't</a:t>
            </a:r>
            <a:endParaRPr lang="en-US" sz="1400" dirty="0"/>
          </a:p>
        </p:txBody>
      </p:sp>
      <p:sp>
        <p:nvSpPr>
          <p:cNvPr id="13" name="Text 11"/>
          <p:cNvSpPr/>
          <p:nvPr/>
        </p:nvSpPr>
        <p:spPr>
          <a:xfrm>
            <a:off x="496519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Repeat anything that will be clearly described or implied in the course of the procedure.</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Assume readers know what you mean by a given term or acronym.</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8</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BEST PRACTICES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Procedure headings</a:t>
            </a:r>
            <a:endParaRPr lang="en-US" sz="2600" dirty="0"/>
          </a:p>
        </p:txBody>
      </p:sp>
      <p:sp>
        <p:nvSpPr>
          <p:cNvPr id="6" name="Text 4"/>
          <p:cNvSpPr/>
          <p:nvPr/>
        </p:nvSpPr>
        <p:spPr>
          <a:xfrm>
            <a:off x="457200" y="1417320"/>
            <a:ext cx="3063240" cy="322326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Do: Use bold formatting.</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Do: Use an infinitive verb phrase at the beginning.</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Do: Add a colon at the end.</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Do: Match the procedure title (except for the opening verb).</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Don't: Use italics or a heading style.</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Don't: Omit the procedure heading if there's no introduction — unless your style guide says otherwise.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9</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BEST PRACTICES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Steps, part 1</a:t>
            </a:r>
            <a:endParaRPr lang="en-US" sz="2600" dirty="0"/>
          </a:p>
        </p:txBody>
      </p:sp>
      <p:sp>
        <p:nvSpPr>
          <p:cNvPr id="6" name="Shape 4"/>
          <p:cNvSpPr/>
          <p:nvPr/>
        </p:nvSpPr>
        <p:spPr>
          <a:xfrm>
            <a:off x="457200" y="1417320"/>
            <a:ext cx="3977640" cy="3223260"/>
          </a:xfrm>
          <a:prstGeom prst="roundRect">
            <a:avLst>
              <a:gd name="adj" fmla="val 2837"/>
            </a:avLst>
          </a:prstGeom>
          <a:solidFill>
            <a:srgbClr val="EAEFED"/>
          </a:solidFill>
          <a:ln/>
          <a:effectLst>
            <a:outerShdw blurRad="76200" dist="25400" dir="5400000" algn="bl" rotWithShape="0">
              <a:srgbClr val="12181A">
                <a:alpha val="18000"/>
              </a:srgbClr>
            </a:outerShdw>
          </a:effectLst>
        </p:spPr>
        <p:txBody>
          <a:bodyPr/>
          <a:lstStyle/>
          <a:p>
            <a:endParaRPr lang="en-US"/>
          </a:p>
        </p:txBody>
      </p:sp>
      <p:sp>
        <p:nvSpPr>
          <p:cNvPr id="7" name="Shape 5"/>
          <p:cNvSpPr/>
          <p:nvPr/>
        </p:nvSpPr>
        <p:spPr>
          <a:xfrm>
            <a:off x="713232" y="1655064"/>
            <a:ext cx="146304" cy="146304"/>
          </a:xfrm>
          <a:prstGeom prst="ellipse">
            <a:avLst/>
          </a:prstGeom>
          <a:solidFill>
            <a:srgbClr val="0B6E63"/>
          </a:solidFill>
          <a:ln/>
        </p:spPr>
        <p:txBody>
          <a:bodyPr/>
          <a:lstStyle/>
          <a:p>
            <a:endParaRPr lang="en-US"/>
          </a:p>
        </p:txBody>
      </p:sp>
      <p:sp>
        <p:nvSpPr>
          <p:cNvPr id="8" name="Text 6"/>
          <p:cNvSpPr/>
          <p:nvPr/>
        </p:nvSpPr>
        <p:spPr>
          <a:xfrm>
            <a:off x="914400" y="1581912"/>
            <a:ext cx="3337560" cy="292608"/>
          </a:xfrm>
          <a:prstGeom prst="rect">
            <a:avLst/>
          </a:prstGeom>
          <a:noFill/>
          <a:ln/>
        </p:spPr>
        <p:txBody>
          <a:bodyPr wrap="square" lIns="0" tIns="0" rIns="0" bIns="0" rtlCol="0" anchor="ctr"/>
          <a:lstStyle/>
          <a:p>
            <a:pPr marL="0" indent="0">
              <a:buNone/>
            </a:pPr>
            <a:r>
              <a:rPr lang="en-US" sz="1400" b="1" dirty="0">
                <a:solidFill>
                  <a:srgbClr val="0B6E63"/>
                </a:solidFill>
                <a:latin typeface="Calibri" pitchFamily="34" charset="0"/>
                <a:ea typeface="Calibri" pitchFamily="34" charset="-122"/>
                <a:cs typeface="Calibri" pitchFamily="34" charset="-120"/>
              </a:rPr>
              <a:t>Do</a:t>
            </a:r>
            <a:endParaRPr lang="en-US" sz="1400" dirty="0"/>
          </a:p>
        </p:txBody>
      </p:sp>
      <p:sp>
        <p:nvSpPr>
          <p:cNvPr id="9" name="Text 7"/>
          <p:cNvSpPr/>
          <p:nvPr/>
        </p:nvSpPr>
        <p:spPr>
          <a:xfrm>
            <a:off x="71323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numbered lists to imply sequence.</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Start each step with an active verb.</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Bold terms that refer to sections or clickable elements of the interface.</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locators to show where in the interface an action happens — but avoid locator overload.</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Add a “feedback statement” only if it clarifies things; be sparing, or let the locator imply it.</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Add a period at the end of each step.</a:t>
            </a:r>
            <a:endParaRPr lang="en-US" sz="1250" dirty="0"/>
          </a:p>
        </p:txBody>
      </p:sp>
      <p:sp>
        <p:nvSpPr>
          <p:cNvPr id="10" name="Shape 8"/>
          <p:cNvSpPr/>
          <p:nvPr/>
        </p:nvSpPr>
        <p:spPr>
          <a:xfrm>
            <a:off x="4709160" y="1417320"/>
            <a:ext cx="3977640" cy="3223260"/>
          </a:xfrm>
          <a:prstGeom prst="roundRect">
            <a:avLst>
              <a:gd name="adj" fmla="val 2837"/>
            </a:avLst>
          </a:prstGeom>
          <a:solidFill>
            <a:srgbClr val="F3E3D0"/>
          </a:solidFill>
          <a:ln/>
          <a:effectLst>
            <a:outerShdw blurRad="76200" dist="25400" dir="5400000" algn="bl" rotWithShape="0">
              <a:srgbClr val="12181A">
                <a:alpha val="18000"/>
              </a:srgbClr>
            </a:outerShdw>
          </a:effectLst>
        </p:spPr>
        <p:txBody>
          <a:bodyPr/>
          <a:lstStyle/>
          <a:p>
            <a:endParaRPr lang="en-US"/>
          </a:p>
        </p:txBody>
      </p:sp>
      <p:sp>
        <p:nvSpPr>
          <p:cNvPr id="11" name="Shape 9"/>
          <p:cNvSpPr/>
          <p:nvPr/>
        </p:nvSpPr>
        <p:spPr>
          <a:xfrm>
            <a:off x="4965192" y="1655064"/>
            <a:ext cx="146304" cy="146304"/>
          </a:xfrm>
          <a:prstGeom prst="ellipse">
            <a:avLst/>
          </a:prstGeom>
          <a:solidFill>
            <a:srgbClr val="A9631E"/>
          </a:solidFill>
          <a:ln/>
        </p:spPr>
        <p:txBody>
          <a:bodyPr/>
          <a:lstStyle/>
          <a:p>
            <a:endParaRPr lang="en-US"/>
          </a:p>
        </p:txBody>
      </p:sp>
      <p:sp>
        <p:nvSpPr>
          <p:cNvPr id="12" name="Text 10"/>
          <p:cNvSpPr/>
          <p:nvPr/>
        </p:nvSpPr>
        <p:spPr>
          <a:xfrm>
            <a:off x="5166360" y="1581912"/>
            <a:ext cx="3337560" cy="292608"/>
          </a:xfrm>
          <a:prstGeom prst="rect">
            <a:avLst/>
          </a:prstGeom>
          <a:noFill/>
          <a:ln/>
        </p:spPr>
        <p:txBody>
          <a:bodyPr wrap="square" lIns="0" tIns="0" rIns="0" bIns="0" rtlCol="0" anchor="ctr"/>
          <a:lstStyle/>
          <a:p>
            <a:pPr marL="0" indent="0">
              <a:buNone/>
            </a:pPr>
            <a:r>
              <a:rPr lang="en-US" sz="1400" b="1" dirty="0">
                <a:solidFill>
                  <a:srgbClr val="A9631E"/>
                </a:solidFill>
                <a:latin typeface="Calibri" pitchFamily="34" charset="0"/>
                <a:ea typeface="Calibri" pitchFamily="34" charset="-122"/>
                <a:cs typeface="Calibri" pitchFamily="34" charset="-120"/>
              </a:rPr>
              <a:t>Don't</a:t>
            </a:r>
            <a:endParaRPr lang="en-US" sz="1400" dirty="0"/>
          </a:p>
        </p:txBody>
      </p:sp>
      <p:sp>
        <p:nvSpPr>
          <p:cNvPr id="13" name="Text 11"/>
          <p:cNvSpPr/>
          <p:nvPr/>
        </p:nvSpPr>
        <p:spPr>
          <a:xfrm>
            <a:off x="496519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Bury the action in the middle of a long sentence.</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Mix multiple unrelated actions into a single step.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10</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BEST PRACTICES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Steps, part 2</a:t>
            </a:r>
            <a:endParaRPr lang="en-US" sz="2600" dirty="0"/>
          </a:p>
        </p:txBody>
      </p:sp>
      <p:sp>
        <p:nvSpPr>
          <p:cNvPr id="6" name="Shape 4"/>
          <p:cNvSpPr/>
          <p:nvPr/>
        </p:nvSpPr>
        <p:spPr>
          <a:xfrm>
            <a:off x="457200" y="1417320"/>
            <a:ext cx="3977640" cy="3223260"/>
          </a:xfrm>
          <a:prstGeom prst="roundRect">
            <a:avLst>
              <a:gd name="adj" fmla="val 2837"/>
            </a:avLst>
          </a:prstGeom>
          <a:solidFill>
            <a:srgbClr val="EAEFED"/>
          </a:solidFill>
          <a:ln/>
          <a:effectLst>
            <a:outerShdw blurRad="76200" dist="25400" dir="5400000" algn="bl" rotWithShape="0">
              <a:srgbClr val="12181A">
                <a:alpha val="18000"/>
              </a:srgbClr>
            </a:outerShdw>
          </a:effectLst>
        </p:spPr>
        <p:txBody>
          <a:bodyPr/>
          <a:lstStyle/>
          <a:p>
            <a:endParaRPr lang="en-US"/>
          </a:p>
        </p:txBody>
      </p:sp>
      <p:sp>
        <p:nvSpPr>
          <p:cNvPr id="7" name="Shape 5"/>
          <p:cNvSpPr/>
          <p:nvPr/>
        </p:nvSpPr>
        <p:spPr>
          <a:xfrm>
            <a:off x="713232" y="1655064"/>
            <a:ext cx="146304" cy="146304"/>
          </a:xfrm>
          <a:prstGeom prst="ellipse">
            <a:avLst/>
          </a:prstGeom>
          <a:solidFill>
            <a:srgbClr val="0B6E63"/>
          </a:solidFill>
          <a:ln/>
        </p:spPr>
        <p:txBody>
          <a:bodyPr/>
          <a:lstStyle/>
          <a:p>
            <a:endParaRPr lang="en-US"/>
          </a:p>
        </p:txBody>
      </p:sp>
      <p:sp>
        <p:nvSpPr>
          <p:cNvPr id="8" name="Text 6"/>
          <p:cNvSpPr/>
          <p:nvPr/>
        </p:nvSpPr>
        <p:spPr>
          <a:xfrm>
            <a:off x="914400" y="1581912"/>
            <a:ext cx="3337560" cy="292608"/>
          </a:xfrm>
          <a:prstGeom prst="rect">
            <a:avLst/>
          </a:prstGeom>
          <a:noFill/>
          <a:ln/>
        </p:spPr>
        <p:txBody>
          <a:bodyPr wrap="square" lIns="0" tIns="0" rIns="0" bIns="0" rtlCol="0" anchor="ctr"/>
          <a:lstStyle/>
          <a:p>
            <a:pPr marL="0" indent="0">
              <a:buNone/>
            </a:pPr>
            <a:r>
              <a:rPr lang="en-US" sz="1400" b="1" dirty="0">
                <a:solidFill>
                  <a:srgbClr val="0B6E63"/>
                </a:solidFill>
                <a:latin typeface="Calibri" pitchFamily="34" charset="0"/>
                <a:ea typeface="Calibri" pitchFamily="34" charset="-122"/>
                <a:cs typeface="Calibri" pitchFamily="34" charset="-120"/>
              </a:rPr>
              <a:t>Do</a:t>
            </a:r>
            <a:endParaRPr lang="en-US" sz="1400" dirty="0"/>
          </a:p>
        </p:txBody>
      </p:sp>
      <p:sp>
        <p:nvSpPr>
          <p:cNvPr id="9" name="Text 7"/>
          <p:cNvSpPr/>
          <p:nvPr/>
        </p:nvSpPr>
        <p:spPr>
          <a:xfrm>
            <a:off x="71323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“Do one of the following:” to handle if-then situations.</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an expand or disclosure beneath a step for extra detail, if necessary.</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Repeat common steps across procedures for parallelism.</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Precede a step with Optional. if it isn't required.</a:t>
            </a:r>
            <a:endParaRPr lang="en-US" sz="1250" dirty="0"/>
          </a:p>
        </p:txBody>
      </p:sp>
      <p:sp>
        <p:nvSpPr>
          <p:cNvPr id="10" name="Shape 8"/>
          <p:cNvSpPr/>
          <p:nvPr/>
        </p:nvSpPr>
        <p:spPr>
          <a:xfrm>
            <a:off x="4709160" y="1417320"/>
            <a:ext cx="3977640" cy="3223260"/>
          </a:xfrm>
          <a:prstGeom prst="roundRect">
            <a:avLst>
              <a:gd name="adj" fmla="val 2837"/>
            </a:avLst>
          </a:prstGeom>
          <a:solidFill>
            <a:srgbClr val="F3E3D0"/>
          </a:solidFill>
          <a:ln/>
          <a:effectLst>
            <a:outerShdw blurRad="76200" dist="25400" dir="5400000" algn="bl" rotWithShape="0">
              <a:srgbClr val="12181A">
                <a:alpha val="18000"/>
              </a:srgbClr>
            </a:outerShdw>
          </a:effectLst>
        </p:spPr>
        <p:txBody>
          <a:bodyPr/>
          <a:lstStyle/>
          <a:p>
            <a:endParaRPr lang="en-US"/>
          </a:p>
        </p:txBody>
      </p:sp>
      <p:sp>
        <p:nvSpPr>
          <p:cNvPr id="11" name="Shape 9"/>
          <p:cNvSpPr/>
          <p:nvPr/>
        </p:nvSpPr>
        <p:spPr>
          <a:xfrm>
            <a:off x="4965192" y="1655064"/>
            <a:ext cx="146304" cy="146304"/>
          </a:xfrm>
          <a:prstGeom prst="ellipse">
            <a:avLst/>
          </a:prstGeom>
          <a:solidFill>
            <a:srgbClr val="A9631E"/>
          </a:solidFill>
          <a:ln/>
        </p:spPr>
        <p:txBody>
          <a:bodyPr/>
          <a:lstStyle/>
          <a:p>
            <a:endParaRPr lang="en-US"/>
          </a:p>
        </p:txBody>
      </p:sp>
      <p:sp>
        <p:nvSpPr>
          <p:cNvPr id="12" name="Text 10"/>
          <p:cNvSpPr/>
          <p:nvPr/>
        </p:nvSpPr>
        <p:spPr>
          <a:xfrm>
            <a:off x="5166360" y="1581912"/>
            <a:ext cx="3337560" cy="292608"/>
          </a:xfrm>
          <a:prstGeom prst="rect">
            <a:avLst/>
          </a:prstGeom>
          <a:noFill/>
          <a:ln/>
        </p:spPr>
        <p:txBody>
          <a:bodyPr wrap="square" lIns="0" tIns="0" rIns="0" bIns="0" rtlCol="0" anchor="ctr"/>
          <a:lstStyle/>
          <a:p>
            <a:pPr marL="0" indent="0">
              <a:buNone/>
            </a:pPr>
            <a:r>
              <a:rPr lang="en-US" sz="1400" b="1" dirty="0">
                <a:solidFill>
                  <a:srgbClr val="A9631E"/>
                </a:solidFill>
                <a:latin typeface="Calibri" pitchFamily="34" charset="0"/>
                <a:ea typeface="Calibri" pitchFamily="34" charset="-122"/>
                <a:cs typeface="Calibri" pitchFamily="34" charset="-120"/>
              </a:rPr>
              <a:t>Don't</a:t>
            </a:r>
            <a:endParaRPr lang="en-US" sz="1400" dirty="0"/>
          </a:p>
        </p:txBody>
      </p:sp>
      <p:sp>
        <p:nvSpPr>
          <p:cNvPr id="13" name="Text 11"/>
          <p:cNvSpPr/>
          <p:nvPr/>
        </p:nvSpPr>
        <p:spPr>
          <a:xfrm>
            <a:off x="496519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carats (&gt;) for menu paths unless the audience is internal and the meaning is very clear — they're generally bad for localization.</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Cram more than one primary action into a single numbered step.</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11</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BEST PRACTICES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Images &amp; advanced formatting</a:t>
            </a:r>
            <a:endParaRPr lang="en-US" sz="2600" dirty="0"/>
          </a:p>
        </p:txBody>
      </p:sp>
      <p:sp>
        <p:nvSpPr>
          <p:cNvPr id="6" name="Shape 4"/>
          <p:cNvSpPr/>
          <p:nvPr/>
        </p:nvSpPr>
        <p:spPr>
          <a:xfrm>
            <a:off x="457200" y="1417320"/>
            <a:ext cx="3977640" cy="3223260"/>
          </a:xfrm>
          <a:prstGeom prst="roundRect">
            <a:avLst>
              <a:gd name="adj" fmla="val 2837"/>
            </a:avLst>
          </a:prstGeom>
          <a:solidFill>
            <a:srgbClr val="EAEFED"/>
          </a:solidFill>
          <a:ln/>
          <a:effectLst>
            <a:outerShdw blurRad="76200" dist="25400" dir="5400000" algn="bl" rotWithShape="0">
              <a:srgbClr val="12181A">
                <a:alpha val="18000"/>
              </a:srgbClr>
            </a:outerShdw>
          </a:effectLst>
        </p:spPr>
        <p:txBody>
          <a:bodyPr/>
          <a:lstStyle/>
          <a:p>
            <a:endParaRPr lang="en-US"/>
          </a:p>
        </p:txBody>
      </p:sp>
      <p:sp>
        <p:nvSpPr>
          <p:cNvPr id="7" name="Shape 5"/>
          <p:cNvSpPr/>
          <p:nvPr/>
        </p:nvSpPr>
        <p:spPr>
          <a:xfrm>
            <a:off x="713232" y="1655064"/>
            <a:ext cx="146304" cy="146304"/>
          </a:xfrm>
          <a:prstGeom prst="ellipse">
            <a:avLst/>
          </a:prstGeom>
          <a:solidFill>
            <a:srgbClr val="0B6E63"/>
          </a:solidFill>
          <a:ln/>
        </p:spPr>
        <p:txBody>
          <a:bodyPr/>
          <a:lstStyle/>
          <a:p>
            <a:endParaRPr lang="en-US"/>
          </a:p>
        </p:txBody>
      </p:sp>
      <p:sp>
        <p:nvSpPr>
          <p:cNvPr id="8" name="Text 6"/>
          <p:cNvSpPr/>
          <p:nvPr/>
        </p:nvSpPr>
        <p:spPr>
          <a:xfrm>
            <a:off x="914400" y="1581912"/>
            <a:ext cx="3337560" cy="292608"/>
          </a:xfrm>
          <a:prstGeom prst="rect">
            <a:avLst/>
          </a:prstGeom>
          <a:noFill/>
          <a:ln/>
        </p:spPr>
        <p:txBody>
          <a:bodyPr wrap="square" lIns="0" tIns="0" rIns="0" bIns="0" rtlCol="0" anchor="ctr"/>
          <a:lstStyle/>
          <a:p>
            <a:pPr marL="0" indent="0">
              <a:buNone/>
            </a:pPr>
            <a:r>
              <a:rPr lang="en-US" sz="1400" b="1" dirty="0">
                <a:solidFill>
                  <a:srgbClr val="0B6E63"/>
                </a:solidFill>
                <a:latin typeface="Calibri" pitchFamily="34" charset="0"/>
                <a:ea typeface="Calibri" pitchFamily="34" charset="-122"/>
                <a:cs typeface="Calibri" pitchFamily="34" charset="-120"/>
              </a:rPr>
              <a:t>Do</a:t>
            </a:r>
            <a:endParaRPr lang="en-US" sz="1400" dirty="0"/>
          </a:p>
        </p:txBody>
      </p:sp>
      <p:sp>
        <p:nvSpPr>
          <p:cNvPr id="9" name="Text 7"/>
          <p:cNvSpPr/>
          <p:nvPr/>
        </p:nvSpPr>
        <p:spPr>
          <a:xfrm>
            <a:off x="71323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images sparingly, placed directly under the applicable step.</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a drop-shadow effect for screenshots.</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alignment and proximity to connect an image to its step.</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your tool's built-in callout styles rather than one-off formatting.</a:t>
            </a:r>
            <a:endParaRPr lang="en-US" sz="1250" dirty="0"/>
          </a:p>
        </p:txBody>
      </p:sp>
      <p:sp>
        <p:nvSpPr>
          <p:cNvPr id="10" name="Shape 8"/>
          <p:cNvSpPr/>
          <p:nvPr/>
        </p:nvSpPr>
        <p:spPr>
          <a:xfrm>
            <a:off x="4709160" y="1417320"/>
            <a:ext cx="3977640" cy="3223260"/>
          </a:xfrm>
          <a:prstGeom prst="roundRect">
            <a:avLst>
              <a:gd name="adj" fmla="val 2837"/>
            </a:avLst>
          </a:prstGeom>
          <a:solidFill>
            <a:srgbClr val="F3E3D0"/>
          </a:solidFill>
          <a:ln/>
          <a:effectLst>
            <a:outerShdw blurRad="76200" dist="25400" dir="5400000" algn="bl" rotWithShape="0">
              <a:srgbClr val="12181A">
                <a:alpha val="18000"/>
              </a:srgbClr>
            </a:outerShdw>
          </a:effectLst>
        </p:spPr>
        <p:txBody>
          <a:bodyPr/>
          <a:lstStyle/>
          <a:p>
            <a:endParaRPr lang="en-US"/>
          </a:p>
        </p:txBody>
      </p:sp>
      <p:sp>
        <p:nvSpPr>
          <p:cNvPr id="11" name="Shape 9"/>
          <p:cNvSpPr/>
          <p:nvPr/>
        </p:nvSpPr>
        <p:spPr>
          <a:xfrm>
            <a:off x="4965192" y="1655064"/>
            <a:ext cx="146304" cy="146304"/>
          </a:xfrm>
          <a:prstGeom prst="ellipse">
            <a:avLst/>
          </a:prstGeom>
          <a:solidFill>
            <a:srgbClr val="A9631E"/>
          </a:solidFill>
          <a:ln/>
        </p:spPr>
        <p:txBody>
          <a:bodyPr/>
          <a:lstStyle/>
          <a:p>
            <a:endParaRPr lang="en-US"/>
          </a:p>
        </p:txBody>
      </p:sp>
      <p:sp>
        <p:nvSpPr>
          <p:cNvPr id="12" name="Text 10"/>
          <p:cNvSpPr/>
          <p:nvPr/>
        </p:nvSpPr>
        <p:spPr>
          <a:xfrm>
            <a:off x="5166360" y="1581912"/>
            <a:ext cx="3337560" cy="292608"/>
          </a:xfrm>
          <a:prstGeom prst="rect">
            <a:avLst/>
          </a:prstGeom>
          <a:noFill/>
          <a:ln/>
        </p:spPr>
        <p:txBody>
          <a:bodyPr wrap="square" lIns="0" tIns="0" rIns="0" bIns="0" rtlCol="0" anchor="ctr"/>
          <a:lstStyle/>
          <a:p>
            <a:pPr marL="0" indent="0">
              <a:buNone/>
            </a:pPr>
            <a:r>
              <a:rPr lang="en-US" sz="1400" b="1" dirty="0">
                <a:solidFill>
                  <a:srgbClr val="A9631E"/>
                </a:solidFill>
                <a:latin typeface="Calibri" pitchFamily="34" charset="0"/>
                <a:ea typeface="Calibri" pitchFamily="34" charset="-122"/>
                <a:cs typeface="Calibri" pitchFamily="34" charset="-120"/>
              </a:rPr>
              <a:t>Don't</a:t>
            </a:r>
            <a:endParaRPr lang="en-US" sz="1400" dirty="0"/>
          </a:p>
        </p:txBody>
      </p:sp>
      <p:sp>
        <p:nvSpPr>
          <p:cNvPr id="13" name="Text 11"/>
          <p:cNvSpPr/>
          <p:nvPr/>
        </p:nvSpPr>
        <p:spPr>
          <a:xfrm>
            <a:off x="4965192" y="1984248"/>
            <a:ext cx="3465576" cy="2491740"/>
          </a:xfrm>
          <a:prstGeom prst="rect">
            <a:avLst/>
          </a:prstGeom>
          <a:noFill/>
          <a:ln/>
        </p:spPr>
        <p:txBody>
          <a:bodyPr wrap="square" lIns="0" tIns="0" rIns="0" bIns="0" rtlCol="0" anchor="t">
            <a:spAutoFit/>
          </a:bodyPr>
          <a:lstStyle/>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Use tables to organize everything.</a:t>
            </a:r>
            <a:endParaRPr lang="en-US" sz="1250" dirty="0"/>
          </a:p>
          <a:p>
            <a:pPr marL="177800" indent="-177800">
              <a:spcAft>
                <a:spcPts val="800"/>
              </a:spcAft>
              <a:buSzPct val="100000"/>
              <a:buChar char="•"/>
            </a:pPr>
            <a:r>
              <a:rPr lang="en-US" sz="1250" dirty="0">
                <a:solidFill>
                  <a:srgbClr val="12181A"/>
                </a:solidFill>
                <a:latin typeface="Calibri" pitchFamily="34" charset="0"/>
                <a:ea typeface="Calibri" pitchFamily="34" charset="-122"/>
                <a:cs typeface="Calibri" pitchFamily="34" charset="-120"/>
              </a:rPr>
              <a:t>Insert an image, note, or other element where it's unclear which step it applies to.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12</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BEST PRACTICES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Branches or forks</a:t>
            </a:r>
            <a:endParaRPr lang="en-US" sz="2600" dirty="0"/>
          </a:p>
        </p:txBody>
      </p:sp>
      <p:sp>
        <p:nvSpPr>
          <p:cNvPr id="6" name="Text 4"/>
          <p:cNvSpPr/>
          <p:nvPr/>
        </p:nvSpPr>
        <p:spPr>
          <a:xfrm>
            <a:off x="457200" y="1417320"/>
            <a:ext cx="3954780" cy="256032"/>
          </a:xfrm>
          <a:prstGeom prst="rect">
            <a:avLst/>
          </a:prstGeom>
          <a:noFill/>
          <a:ln/>
        </p:spPr>
        <p:txBody>
          <a:bodyPr wrap="square" lIns="0" tIns="0" rIns="0" bIns="0" rtlCol="0" anchor="ctr"/>
          <a:lstStyle/>
          <a:p>
            <a:pPr marL="0" indent="0">
              <a:buNone/>
            </a:pPr>
            <a:r>
              <a:rPr lang="en-US" sz="1200" b="1" dirty="0">
                <a:solidFill>
                  <a:srgbClr val="0B6E63"/>
                </a:solidFill>
                <a:latin typeface="Calibri" pitchFamily="34" charset="0"/>
                <a:ea typeface="Calibri" pitchFamily="34" charset="-122"/>
                <a:cs typeface="Calibri" pitchFamily="34" charset="-120"/>
              </a:rPr>
              <a:t>Common scenarios</a:t>
            </a:r>
            <a:endParaRPr lang="en-US" sz="1200" dirty="0"/>
          </a:p>
        </p:txBody>
      </p:sp>
      <p:sp>
        <p:nvSpPr>
          <p:cNvPr id="7" name="Text 5"/>
          <p:cNvSpPr/>
          <p:nvPr/>
        </p:nvSpPr>
        <p:spPr>
          <a:xfrm>
            <a:off x="457200" y="1728216"/>
            <a:ext cx="3954780" cy="2912364"/>
          </a:xfrm>
          <a:prstGeom prst="rect">
            <a:avLst/>
          </a:prstGeom>
          <a:noFill/>
          <a:ln/>
        </p:spPr>
        <p:txBody>
          <a:bodyPr wrap="square" lIns="0" tIns="0" rIns="0" bIns="0" rtlCol="0" anchor="t">
            <a:spAutoFit/>
          </a:bodyPr>
          <a:lstStyle/>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Variations depending on the user's role</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Multiple ways to do the same thing</a:t>
            </a:r>
            <a:endParaRPr lang="en-US" sz="1150" dirty="0"/>
          </a:p>
        </p:txBody>
      </p:sp>
      <p:sp>
        <p:nvSpPr>
          <p:cNvPr id="8" name="Text 6"/>
          <p:cNvSpPr/>
          <p:nvPr/>
        </p:nvSpPr>
        <p:spPr>
          <a:xfrm>
            <a:off x="4732020" y="1417320"/>
            <a:ext cx="3954780" cy="256032"/>
          </a:xfrm>
          <a:prstGeom prst="rect">
            <a:avLst/>
          </a:prstGeom>
          <a:noFill/>
          <a:ln/>
        </p:spPr>
        <p:txBody>
          <a:bodyPr wrap="square" lIns="0" tIns="0" rIns="0" bIns="0" rtlCol="0" anchor="ctr"/>
          <a:lstStyle/>
          <a:p>
            <a:pPr marL="0" indent="0">
              <a:buNone/>
            </a:pPr>
            <a:r>
              <a:rPr lang="en-US" sz="1200" b="1" dirty="0">
                <a:solidFill>
                  <a:srgbClr val="0B6E63"/>
                </a:solidFill>
                <a:latin typeface="Calibri" pitchFamily="34" charset="0"/>
                <a:ea typeface="Calibri" pitchFamily="34" charset="-122"/>
                <a:cs typeface="Calibri" pitchFamily="34" charset="-120"/>
              </a:rPr>
              <a:t>Tactics</a:t>
            </a:r>
            <a:endParaRPr lang="en-US" sz="1200" dirty="0"/>
          </a:p>
        </p:txBody>
      </p:sp>
      <p:sp>
        <p:nvSpPr>
          <p:cNvPr id="9" name="Text 7"/>
          <p:cNvSpPr/>
          <p:nvPr/>
        </p:nvSpPr>
        <p:spPr>
          <a:xfrm>
            <a:off x="4732020" y="1728216"/>
            <a:ext cx="3954780" cy="2912364"/>
          </a:xfrm>
          <a:prstGeom prst="rect">
            <a:avLst/>
          </a:prstGeom>
          <a:noFill/>
          <a:ln/>
        </p:spPr>
        <p:txBody>
          <a:bodyPr wrap="square" lIns="0" tIns="0" rIns="0" bIns="0" rtlCol="0" anchor="t">
            <a:spAutoFit/>
          </a:bodyPr>
          <a:lstStyle/>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A preliminary procedure that branches into the rest</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“Do one of the following” followed by bullets</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“Do one of the following” followed by a table</a:t>
            </a:r>
            <a:endParaRPr lang="en-US" sz="1150" dirty="0"/>
          </a:p>
          <a:p>
            <a:pPr marL="177800" indent="-177800">
              <a:spcAft>
                <a:spcPts val="600"/>
              </a:spcAft>
              <a:buSzPct val="100000"/>
              <a:buChar char="•"/>
            </a:pPr>
            <a:r>
              <a:rPr lang="en-US" sz="1150" dirty="0">
                <a:solidFill>
                  <a:srgbClr val="12181A"/>
                </a:solidFill>
                <a:latin typeface="Calibri" pitchFamily="34" charset="0"/>
                <a:ea typeface="Calibri" pitchFamily="34" charset="-122"/>
                <a:cs typeface="Calibri" pitchFamily="34" charset="-120"/>
              </a:rPr>
              <a:t>A “You can also...” callout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5"/>
        </a:solidFill>
        <a:effectLst/>
      </p:bgPr>
    </p:bg>
    <p:spTree>
      <p:nvGrpSpPr>
        <p:cNvPr id="1" name=""/>
        <p:cNvGrpSpPr/>
        <p:nvPr/>
      </p:nvGrpSpPr>
      <p:grpSpPr>
        <a:xfrm>
          <a:off x="0" y="0"/>
          <a:ext cx="0" cy="0"/>
          <a:chOff x="0" y="0"/>
          <a:chExt cx="0" cy="0"/>
        </a:xfrm>
      </p:grpSpPr>
      <p:sp>
        <p:nvSpPr>
          <p:cNvPr id="2" name="Text 0"/>
          <p:cNvSpPr/>
          <p:nvPr/>
        </p:nvSpPr>
        <p:spPr>
          <a:xfrm>
            <a:off x="457200" y="4814316"/>
            <a:ext cx="4572000" cy="274320"/>
          </a:xfrm>
          <a:prstGeom prst="rect">
            <a:avLst/>
          </a:prstGeom>
          <a:noFill/>
          <a:ln/>
        </p:spPr>
        <p:txBody>
          <a:bodyPr wrap="square" lIns="0" tIns="0" rIns="0" bIns="0" rtlCol="0" anchor="ctr"/>
          <a:lstStyle/>
          <a:p>
            <a:pPr marL="0" indent="0">
              <a:buNone/>
            </a:pPr>
            <a:r>
              <a:rPr lang="en-US" sz="900" kern="0" spc="100" dirty="0">
                <a:solidFill>
                  <a:srgbClr val="4B5559"/>
                </a:solidFill>
                <a:latin typeface="Consolas" pitchFamily="34" charset="0"/>
                <a:ea typeface="Consolas" pitchFamily="34" charset="-122"/>
                <a:cs typeface="Consolas" pitchFamily="34" charset="-120"/>
              </a:rPr>
              <a:t>PROCEDURE WRITING WORKSHOP</a:t>
            </a:r>
            <a:endParaRPr lang="en-US" sz="900" dirty="0"/>
          </a:p>
        </p:txBody>
      </p:sp>
      <p:sp>
        <p:nvSpPr>
          <p:cNvPr id="3" name="Text 1"/>
          <p:cNvSpPr/>
          <p:nvPr/>
        </p:nvSpPr>
        <p:spPr>
          <a:xfrm>
            <a:off x="8138160" y="4814316"/>
            <a:ext cx="548640" cy="274320"/>
          </a:xfrm>
          <a:prstGeom prst="rect">
            <a:avLst/>
          </a:prstGeom>
          <a:noFill/>
          <a:ln/>
        </p:spPr>
        <p:txBody>
          <a:bodyPr wrap="square" lIns="0" tIns="0" rIns="0" bIns="0" rtlCol="0" anchor="ctr"/>
          <a:lstStyle/>
          <a:p>
            <a:pPr marL="0" indent="0" algn="r">
              <a:buNone/>
            </a:pPr>
            <a:r>
              <a:rPr lang="en-US" sz="900" dirty="0">
                <a:solidFill>
                  <a:srgbClr val="4B5559"/>
                </a:solidFill>
                <a:latin typeface="Consolas" pitchFamily="34" charset="0"/>
                <a:ea typeface="Consolas" pitchFamily="34" charset="-122"/>
                <a:cs typeface="Consolas" pitchFamily="34" charset="-120"/>
              </a:rPr>
              <a:t>13</a:t>
            </a:r>
            <a:endParaRPr lang="en-US" sz="900" dirty="0"/>
          </a:p>
        </p:txBody>
      </p:sp>
      <p:sp>
        <p:nvSpPr>
          <p:cNvPr id="4" name="Text 2"/>
          <p:cNvSpPr/>
          <p:nvPr/>
        </p:nvSpPr>
        <p:spPr>
          <a:xfrm>
            <a:off x="457200" y="384048"/>
            <a:ext cx="8229600" cy="256032"/>
          </a:xfrm>
          <a:prstGeom prst="rect">
            <a:avLst/>
          </a:prstGeom>
          <a:noFill/>
          <a:ln/>
        </p:spPr>
        <p:txBody>
          <a:bodyPr wrap="square" lIns="0" tIns="0" rIns="0" bIns="0" rtlCol="0" anchor="ctr"/>
          <a:lstStyle/>
          <a:p>
            <a:pPr marL="0" indent="0">
              <a:buNone/>
            </a:pPr>
            <a:r>
              <a:rPr lang="en-US" sz="1050" kern="0" spc="150" dirty="0">
                <a:solidFill>
                  <a:srgbClr val="0B6E63"/>
                </a:solidFill>
                <a:latin typeface="Consolas" pitchFamily="34" charset="0"/>
                <a:ea typeface="Consolas" pitchFamily="34" charset="-122"/>
                <a:cs typeface="Consolas" pitchFamily="34" charset="-120"/>
              </a:rPr>
              <a:t>RESOURCES</a:t>
            </a:r>
            <a:endParaRPr lang="en-US" sz="1050" dirty="0"/>
          </a:p>
        </p:txBody>
      </p:sp>
      <p:sp>
        <p:nvSpPr>
          <p:cNvPr id="5" name="Text 3"/>
          <p:cNvSpPr/>
          <p:nvPr/>
        </p:nvSpPr>
        <p:spPr>
          <a:xfrm>
            <a:off x="457200" y="658368"/>
            <a:ext cx="8229600" cy="566928"/>
          </a:xfrm>
          <a:prstGeom prst="rect">
            <a:avLst/>
          </a:prstGeom>
          <a:noFill/>
          <a:ln/>
        </p:spPr>
        <p:txBody>
          <a:bodyPr wrap="square" lIns="0" tIns="0" rIns="0" bIns="0" rtlCol="0" anchor="t"/>
          <a:lstStyle/>
          <a:p>
            <a:pPr marL="0" indent="0" algn="l">
              <a:buNone/>
            </a:pPr>
            <a:r>
              <a:rPr lang="en-US" sz="2600" dirty="0">
                <a:solidFill>
                  <a:srgbClr val="12181A"/>
                </a:solidFill>
                <a:latin typeface="Cambria" pitchFamily="34" charset="0"/>
                <a:ea typeface="Cambria" pitchFamily="34" charset="-122"/>
                <a:cs typeface="Cambria" pitchFamily="34" charset="-120"/>
              </a:rPr>
              <a:t>Resources</a:t>
            </a:r>
            <a:endParaRPr lang="en-US" sz="2600" dirty="0"/>
          </a:p>
        </p:txBody>
      </p:sp>
      <p:sp>
        <p:nvSpPr>
          <p:cNvPr id="6" name="Text 4"/>
          <p:cNvSpPr/>
          <p:nvPr/>
        </p:nvSpPr>
        <p:spPr>
          <a:xfrm>
            <a:off x="457200" y="1417320"/>
            <a:ext cx="8229600" cy="3223260"/>
          </a:xfrm>
          <a:prstGeom prst="rect">
            <a:avLst/>
          </a:prstGeom>
          <a:noFill/>
          <a:ln/>
        </p:spPr>
        <p:txBody>
          <a:bodyPr wrap="square" lIns="0" tIns="0" rIns="0" bIns="0" rtlCol="0" anchor="t">
            <a:spAutoFit/>
          </a:bodyPr>
          <a:lstStyle/>
          <a:p>
            <a:pPr marL="203200" indent="-203200">
              <a:spcAft>
                <a:spcPts val="1000"/>
              </a:spcAft>
              <a:buSzPct val="100000"/>
              <a:buChar char="•"/>
            </a:pPr>
            <a:r>
              <a:rPr lang="en-US" sz="1400" dirty="0">
                <a:solidFill>
                  <a:srgbClr val="12181A"/>
                </a:solidFill>
                <a:latin typeface="Calibri" pitchFamily="34" charset="0"/>
                <a:ea typeface="Calibri" pitchFamily="34" charset="-122"/>
                <a:cs typeface="Calibri" pitchFamily="34" charset="-120"/>
              </a:rPr>
              <a:t>Solstice Docs Style Guide (internal)</a:t>
            </a:r>
            <a:endParaRPr lang="en-US" sz="1400" dirty="0"/>
          </a:p>
          <a:p>
            <a:pPr marL="203200" indent="-203200">
              <a:spcAft>
                <a:spcPts val="1000"/>
              </a:spcAft>
              <a:buSzPct val="100000"/>
              <a:buChar char="•"/>
            </a:pPr>
            <a:r>
              <a:rPr lang="en-US" sz="1400" dirty="0">
                <a:solidFill>
                  <a:srgbClr val="12181A"/>
                </a:solidFill>
                <a:latin typeface="Calibri" pitchFamily="34" charset="0"/>
                <a:ea typeface="Calibri" pitchFamily="34" charset="-122"/>
                <a:cs typeface="Calibri" pitchFamily="34" charset="-120"/>
              </a:rPr>
              <a:t>Microsoft Manual of Style for Technical Publications, 3rd Edition — p. 117–124, “Procedures.”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81A"/>
        </a:solidFill>
        <a:effectLst/>
      </p:bgPr>
    </p:bg>
    <p:spTree>
      <p:nvGrpSpPr>
        <p:cNvPr id="1" name=""/>
        <p:cNvGrpSpPr/>
        <p:nvPr/>
      </p:nvGrpSpPr>
      <p:grpSpPr>
        <a:xfrm>
          <a:off x="0" y="0"/>
          <a:ext cx="0" cy="0"/>
          <a:chOff x="0" y="0"/>
          <a:chExt cx="0" cy="0"/>
        </a:xfrm>
      </p:grpSpPr>
      <p:sp>
        <p:nvSpPr>
          <p:cNvPr id="2" name="Shape 0"/>
          <p:cNvSpPr/>
          <p:nvPr/>
        </p:nvSpPr>
        <p:spPr>
          <a:xfrm>
            <a:off x="4471416" y="1737360"/>
            <a:ext cx="201168" cy="201168"/>
          </a:xfrm>
          <a:prstGeom prst="ellipse">
            <a:avLst/>
          </a:prstGeom>
          <a:solidFill>
            <a:srgbClr val="085951"/>
          </a:solidFill>
          <a:ln/>
        </p:spPr>
        <p:txBody>
          <a:bodyPr/>
          <a:lstStyle/>
          <a:p>
            <a:endParaRPr lang="en-US"/>
          </a:p>
        </p:txBody>
      </p:sp>
      <p:sp>
        <p:nvSpPr>
          <p:cNvPr id="3" name="Text 1"/>
          <p:cNvSpPr/>
          <p:nvPr/>
        </p:nvSpPr>
        <p:spPr>
          <a:xfrm>
            <a:off x="457200" y="2103120"/>
            <a:ext cx="8229600" cy="822960"/>
          </a:xfrm>
          <a:prstGeom prst="rect">
            <a:avLst/>
          </a:prstGeom>
          <a:noFill/>
          <a:ln/>
        </p:spPr>
        <p:txBody>
          <a:bodyPr wrap="square" lIns="0" tIns="0" rIns="0" bIns="0" rtlCol="0" anchor="t"/>
          <a:lstStyle/>
          <a:p>
            <a:pPr marL="0" indent="0" algn="ctr">
              <a:buNone/>
            </a:pPr>
            <a:r>
              <a:rPr lang="en-US" sz="3400" dirty="0">
                <a:solidFill>
                  <a:srgbClr val="F4F6F5"/>
                </a:solidFill>
                <a:latin typeface="Cambria" pitchFamily="34" charset="0"/>
                <a:ea typeface="Cambria" pitchFamily="34" charset="-122"/>
                <a:cs typeface="Cambria" pitchFamily="34" charset="-120"/>
              </a:rPr>
              <a:t>Questions?</a:t>
            </a:r>
            <a:endParaRPr lang="en-US" sz="3400" dirty="0"/>
          </a:p>
        </p:txBody>
      </p:sp>
      <p:sp>
        <p:nvSpPr>
          <p:cNvPr id="4" name="Text 2"/>
          <p:cNvSpPr/>
          <p:nvPr/>
        </p:nvSpPr>
        <p:spPr>
          <a:xfrm>
            <a:off x="457200" y="2834640"/>
            <a:ext cx="8229600" cy="457200"/>
          </a:xfrm>
          <a:prstGeom prst="rect">
            <a:avLst/>
          </a:prstGeom>
          <a:noFill/>
          <a:ln/>
        </p:spPr>
        <p:txBody>
          <a:bodyPr wrap="square" lIns="0" tIns="0" rIns="0" bIns="0" rtlCol="0" anchor="ctr"/>
          <a:lstStyle/>
          <a:p>
            <a:pPr marL="0" indent="0" algn="ctr">
              <a:buNone/>
            </a:pPr>
            <a:r>
              <a:rPr lang="en-US" sz="1400" dirty="0">
                <a:solidFill>
                  <a:srgbClr val="93A19D"/>
                </a:solidFill>
                <a:latin typeface="Calibri" pitchFamily="34" charset="0"/>
                <a:ea typeface="Calibri" pitchFamily="34" charset="-122"/>
                <a:cs typeface="Calibri" pitchFamily="34" charset="-120"/>
              </a:rPr>
              <a:t>Procedure Writing Workshop — Richard Rabil</a:t>
            </a:r>
            <a:endParaRPr lang="en-US" sz="1400" dirty="0"/>
          </a:p>
        </p:txBody>
      </p:sp>
      <p:sp>
        <p:nvSpPr>
          <p:cNvPr id="5" name="Text 3"/>
          <p:cNvSpPr/>
          <p:nvPr/>
        </p:nvSpPr>
        <p:spPr>
          <a:xfrm>
            <a:off x="457200" y="4320540"/>
            <a:ext cx="8229600" cy="365760"/>
          </a:xfrm>
          <a:prstGeom prst="rect">
            <a:avLst/>
          </a:prstGeom>
          <a:noFill/>
          <a:ln/>
        </p:spPr>
        <p:txBody>
          <a:bodyPr wrap="square" lIns="0" tIns="0" rIns="0" bIns="0" rtlCol="0" anchor="ctr"/>
          <a:lstStyle/>
          <a:p>
            <a:pPr marL="0" indent="0" algn="ctr">
              <a:buNone/>
            </a:pPr>
            <a:r>
              <a:rPr lang="en-US" sz="1100" dirty="0">
                <a:solidFill>
                  <a:srgbClr val="5CD6C6"/>
                </a:solidFill>
                <a:latin typeface="Consolas" pitchFamily="34" charset="0"/>
                <a:ea typeface="Consolas" pitchFamily="34" charset="-122"/>
                <a:cs typeface="Consolas" pitchFamily="34" charset="-120"/>
              </a:rPr>
              <a:t>rrabil.github.io/portfolio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2</TotalTime>
  <Words>984</Words>
  <Application>Microsoft Office PowerPoint</Application>
  <PresentationFormat>On-screen Show (16:9)</PresentationFormat>
  <Paragraphs>184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Richard Rabil</cp:lastModifiedBy>
  <cp:revision>4</cp:revision>
  <dcterms:created xsi:type="dcterms:W3CDTF">2026-08-18T12:44:37Z</dcterms:created>
  <dcterms:modified xsi:type="dcterms:W3CDTF">2026-08-18T13:06:32Z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Theme:5</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Office Theme:4</vt:lpwstr>
  </property>
  <property fmtid="{D5CDD505-2E9C-101B-9397-08002B2CF9AE}" pid="5" name="ClassificationContentMarkingHeaderText">
    <vt:lpwstr>Confidential - Oracle Restricted \Employees Only</vt:lpwstr>
  </property>
</Properties>
</file>